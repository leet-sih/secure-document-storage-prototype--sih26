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THIS SLIDE IS WHAT THE SYSTEM DOES. Slide 3 is how it is secured — do not explain</a:t>
            </a:r>
          </a:p>
          <a:p>
            <a:r>
              <a:t>chunking, keys or the storage split here.</a:t>
            </a:r>
          </a:p>
          <a:p/>
          <a:p>
            <a:r>
              <a:t>TOP: four sentences on how a case file is held today — scattered, co-located, unprovable,</a:t>
            </a:r>
          </a:p>
          <a:p>
            <a:r>
              <a:t>unaccountable. Do not linger.</a:t>
            </a:r>
          </a:p>
          <a:p/>
          <a:p>
            <a:r>
              <a:t>THEN: walk the eight features. One line each, then move on. The presenter should be able to point</a:t>
            </a:r>
          </a:p>
          <a:p>
            <a:r>
              <a:t>at a card and speak without reading it.</a:t>
            </a:r>
          </a:p>
          <a:p/>
          <a:p>
            <a:r>
              <a:t>PRAMAAN is a complete, standalone evidence system covering capture, custody, retrieval and</a:t>
            </a:r>
          </a:p>
          <a:p>
            <a:r>
              <a:t>controlled sharing. It is not a middle layer bolted onto anything else, and it does not depend on</a:t>
            </a:r>
          </a:p>
          <a:p>
            <a:r>
              <a:t>any external system to function.</a:t>
            </a:r>
          </a:p>
          <a:p/>
          <a:p>
            <a:r>
              <a:t>Q: Who is the primary user? A: An authorised evidence custodian or investigator. Secondary users:</a:t>
            </a:r>
          </a:p>
          <a:p>
            <a:r>
              <a:t>reviewers, auditors and explicitly authorised recipients. Not "everyone".</a:t>
            </a:r>
          </a:p>
          <a:p>
            <a:r>
              <a:t>Q: What is the main innovation? A: The combination of separated trust domains, per-chunk</a:t>
            </a:r>
          </a:p>
          <a:p>
            <a:r>
              <a:t>cryptographic isolation, and mandatory integrity verification before evidence is released — shown</a:t>
            </a:r>
          </a:p>
          <a:p>
            <a:r>
              <a:t>on slide 3. Do NOT answer "AI plus blockchain plus AES".</a:t>
            </a:r>
          </a:p>
          <a:p>
            <a:r>
              <a:t>Q: Does OCR weaken security? A: It runs on-premise and writes only derived text to the search</a:t>
            </a:r>
          </a:p>
          <a:p>
            <a:r>
              <a:t>index; the original file stays encrypted, and the text inherits the same case-scoped access control</a:t>
            </a:r>
          </a:p>
          <a:p>
            <a:r>
              <a:t>as the document it came from.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THIS SLIDE IS THE SECURITY ARCHITECTURE. Slide 2 was the feature set — do not repeat it.</a:t>
            </a:r>
          </a:p>
          <a:p/>
          <a:p>
            <a:r>
              <a:t>WALK THE PICTURE, TOP TO BOTTOM:</a:t>
            </a:r>
          </a:p>
          <a:p>
            <a:r>
              <a:t>Row 1: the officer's browser holds nothing. The application server checks every request but stores</a:t>
            </a:r>
          </a:p>
          <a:p>
            <a:r>
              <a:t>no document bytes. The exhibit is split into 1 MB chunks; each gets its own derived key, is locked</a:t>
            </a:r>
          </a:p>
          <a:p>
            <a:r>
              <a:t>with AES-256-GCM, and is fingerprinted with SHA-256.</a:t>
            </a:r>
          </a:p>
          <a:p>
            <a:r>
              <a:t>Storage tier: three machines holding three different things. Point at each and say what it CANNOT</a:t>
            </a:r>
          </a:p>
          <a:p>
            <a:r>
              <a:t>give an attacker — Server A has no bytes, Server B has no keys, the KMS has no ciphertext.</a:t>
            </a:r>
          </a:p>
          <a:p>
            <a:r>
              <a:t>Gate: every retrieval funnels through one check. Pass, release. Fail, zero bytes.</a:t>
            </a:r>
          </a:p>
          <a:p/>
          <a:p>
            <a:r>
              <a:t>Q12 (hard): Split trust on limited hosts? A: Metadata and ciphertext sit on two independent</a:t>
            </a:r>
          </a:p>
          <a:p>
            <a:r>
              <a:t>servers, so neither host alone holds a reconstruction path. That is logical plus host separation,</a:t>
            </a:r>
          </a:p>
          <a:p>
            <a:r>
              <a:t>not full physical trust separation. Production adds independent credentials per domain and an</a:t>
            </a:r>
          </a:p>
          <a:p>
            <a:r>
              <a:t>isolated KMS boundary. Do not argue — the question is valid.</a:t>
            </a:r>
          </a:p>
          <a:p>
            <a:r>
              <a:t>Q4: Why AES-GCM? A: Authenticated encryption — confidentiality and integrity in one standardised</a:t>
            </a:r>
          </a:p>
          <a:p>
            <a:r>
              <a:t>construction, so tampering is detected on decrypt.</a:t>
            </a:r>
          </a:p>
          <a:p>
            <a:r>
              <a:t>Q5: Why HKDF? A: Independent keys derived from one key with controlled context separation, rather</a:t>
            </a:r>
          </a:p>
          <a:p>
            <a:r>
              <a:t>than reusing a single key for every chunk.</a:t>
            </a:r>
          </a:p>
          <a:p>
            <a:r>
              <a:t>Q6: Why not one key per document? A: Per-chunk derivation limits cryptographic exposure and gives</a:t>
            </a:r>
          </a:p>
          <a:p>
            <a:r>
              <a:t>each chunk an independent encryption context.</a:t>
            </a:r>
          </a:p>
          <a:p>
            <a:r>
              <a:t>Q7: Master key compromised? A: Derived chunk keys become recoverable — it stays the critical trust</a:t>
            </a:r>
          </a:p>
          <a:p>
            <a:r>
              <a:t>boundary. Production needs hardened KMS controls, rotation, backup, recovery and a compromise</a:t>
            </a:r>
          </a:p>
          <a:p>
            <a:r>
              <a:t>procedure. Do NOT claim immunity.</a:t>
            </a:r>
          </a:p>
          <a:p>
            <a:r>
              <a:t>Q8: A chunk is modified? A: Verification fails, retrieval is rejected, nothing is released, and the</a:t>
            </a:r>
          </a:p>
          <a:p>
            <a:r>
              <a:t>event is recorded.</a:t>
            </a:r>
          </a:p>
          <a:p>
            <a:r>
              <a:t>Q14: Why not blockchain? A: No need for decentralised consensus — only tamper detection and audit</a:t>
            </a:r>
          </a:p>
          <a:p>
            <a:r>
              <a:t>verification. A hash chain is simpler with lower operational complexity.</a:t>
            </a:r>
          </a:p>
          <a:p>
            <a:r>
              <a:t>Q18/19: 1 MB chunks and the 500 MB cap are prototype figures, to be benchmarked.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key-risks column was removed to keep this slide readable. Those answers now live here.</a:t>
            </a:r>
          </a:p>
          <a:p/>
          <a:p>
            <a:r>
              <a:t>Q12 (hard): Split trust on limited hosts? A: Metadata and ciphertext sit on two independent</a:t>
            </a:r>
          </a:p>
          <a:p>
            <a:r>
              <a:t>servers, so neither host alone holds a reconstruction path. Logical plus host separation, not full</a:t>
            </a:r>
          </a:p>
          <a:p>
            <a:r>
              <a:t>physical trust separation. Hardening adds independent credentials per domain, network segmentation</a:t>
            </a:r>
          </a:p>
          <a:p>
            <a:r>
              <a:t>and an isolated KMS boundary.</a:t>
            </a:r>
          </a:p>
          <a:p/>
          <a:p>
            <a:r>
              <a:t>Q7/Q11 (master key / KMS): We do not claim immunity. Per-chunk derivation limits exposure per key,</a:t>
            </a:r>
          </a:p>
          <a:p>
            <a:r>
              <a:t>but the master key remains the critical boundary. Key generation, storage, rotation, backup,</a:t>
            </a:r>
          </a:p>
          <a:p>
            <a:r>
              <a:t>revocation and compromise response are documented as required hardening — not as things already</a:t>
            </a:r>
          </a:p>
          <a:p>
            <a:r>
              <a:t>built.</a:t>
            </a:r>
          </a:p>
          <a:p/>
          <a:p>
            <a:r>
              <a:t>Q13 (hard): Can a DBA rewrite the audit chain? A: A database-only hash chain gives tamper evidence,</a:t>
            </a:r>
          </a:p>
          <a:p>
            <a:r>
              <a:t>not absolute immutability. Someone with enough privilege could rewrite history and recompute hashes</a:t>
            </a:r>
          </a:p>
          <a:p>
            <a:r>
              <a:t>into a new internally consistent chain. That is why hardening anchors audit roots in an</a:t>
            </a:r>
          </a:p>
          <a:p>
            <a:r>
              <a:t>independently protected store. Our claim is tamper detection, not immutable storage. UPDATE and</a:t>
            </a:r>
          </a:p>
          <a:p>
            <a:r>
              <a:t>DELETE are revoked on the audit table at the database level, and /audit/verify names the first</a:t>
            </a:r>
          </a:p>
          <a:p>
            <a:r>
              <a:t>failing event.</a:t>
            </a:r>
          </a:p>
          <a:p/>
          <a:p>
            <a:r>
              <a:t>Q24 (insider): MFA, RBAC, case-scoped permissions, audit logging, controlled sharing, session</a:t>
            </a:r>
          </a:p>
          <a:p>
            <a:r>
              <a:t>revocation. Be honest — audit does not prevent every insider action; it provides accountability</a:t>
            </a:r>
          </a:p>
          <a:p>
            <a:r>
              <a:t>and detection.</a:t>
            </a:r>
          </a:p>
          <a:p>
            <a:r>
              <a:t>Q20 (scale): The architecture separates metadata, ciphertext and key services, which gives a path</a:t>
            </a:r>
          </a:p>
          <a:p>
            <a:r>
              <a:t>to independent scaling. Large-scale load testing is not complete, so distinguish architectural</a:t>
            </a:r>
          </a:p>
          <a:p>
            <a:r>
              <a:t>scalability from demonstrated scalability.</a:t>
            </a:r>
          </a:p>
          <a:p>
            <a:r>
              <a:t>Q21-23 (reliability): losing PostgreSQL, chunks or keys each needs backup, restoration and</a:t>
            </a:r>
          </a:p>
          <a:p>
            <a:r>
              <a:t>integrity verification. Do NOT claim disaster recovery until it is designed and tested.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Every number on this slide is a stated target, not a measured result. If a judge asks</a:t>
            </a:r>
          </a:p>
          <a:p>
            <a:r>
              <a:t>"have you measured that?" the answer is: "Not yet — these are the targets and the method. We will</a:t>
            </a:r>
          </a:p>
          <a:p>
            <a:r>
              <a:t>report measured figures with the prototype." Never invent a benchmark.</a:t>
            </a:r>
          </a:p>
          <a:p/>
          <a:p>
            <a:r>
              <a:t>Deliberately NOT claimed here: "retrieval in seconds replaces hours", "fairer trials", "zero</a:t>
            </a:r>
          </a:p>
          <a:p>
            <a:r>
              <a:t>cost", environmental savings. All were removed as unsupported.</a:t>
            </a:r>
          </a:p>
          <a:p/>
          <a:p>
            <a:r>
              <a:t>Q16: Why a 48-hour link? A: The prototype demonstrates time-limited controlled sharing. Hardened</a:t>
            </a:r>
          </a:p>
          <a:p>
            <a:r>
              <a:t>deployment binds the share to an authenticated recipient and enforces explicit access policy</a:t>
            </a:r>
          </a:p>
          <a:p>
            <a:r>
              <a:t>rather than relying on possession of a URL. Do NOT market "no account needed" as a security</a:t>
            </a:r>
          </a:p>
          <a:p>
            <a:r>
              <a:t>advantage.</a:t>
            </a:r>
          </a:p>
          <a:p>
            <a:r>
              <a:t>Q17: Why is this a DMS and not encrypted file storage? A: The security layer is the differentiator,</a:t>
            </a:r>
          </a:p>
          <a:p>
            <a:r>
              <a:t>but the system also maintains case associations, metadata, authorisation, search, access history,</a:t>
            </a:r>
          </a:p>
          <a:p>
            <a:r>
              <a:t>evidence lifecycle state and controlled sharing. The MVP prioritises the secure evidence lifecycle</a:t>
            </a:r>
          </a:p>
          <a:p>
            <a:r>
              <a:t>over broad enterprise-DMS features. Only claim what exists.</a:t>
            </a:r>
          </a:p>
          <a:p>
            <a:r>
              <a:t>Q25/26 (legal): Never answer "yes" to legal admissibility or legal validity. Hashing and signing</a:t>
            </a:r>
          </a:p>
          <a:p>
            <a:r>
              <a:t>support integrity verification; admissibility depends on the applicable evidentiary framework,</a:t>
            </a:r>
          </a:p>
          <a:p>
            <a:r>
              <a:t>collection process, chain of custody and certification.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Every reference here supports something in the architecture. Do not cite anything just</a:t>
            </a:r>
          </a:p>
          <a:p>
            <a:r>
              <a:t>because it sounds authoritative — a judge may ask "what did you use that for?"</a:t>
            </a:r>
          </a:p>
          <a:p/>
          <a:p>
            <a:r>
              <a:t>Legal and regulatory references were deliberately removed from this version. If asked about legal</a:t>
            </a:r>
          </a:p>
          <a:p>
            <a:r>
              <a:t>standing: "PRAMAAN demonstrates the technical integrity layer. Legal admissibility depends on the</a:t>
            </a:r>
          </a:p>
          <a:p>
            <a:r>
              <a:t>applicable evidentiary framework, collection process, chain of custody and certification, which is</a:t>
            </a:r>
          </a:p>
          <a:p>
            <a:r>
              <a:t>outside this prototype's scope."</a:t>
            </a:r>
          </a:p>
          <a:p/>
          <a:p>
            <a:r>
              <a:t>Q15: Is Ed25519 legally recognised? A: The prototype uses Ed25519 for cryptographic signing and</a:t>
            </a:r>
          </a:p>
          <a:p>
            <a:r>
              <a:t>integrity verification. We are not claiming the prototype signature by itself establishes legal</a:t>
            </a:r>
          </a:p>
          <a:p>
            <a:r>
              <a:t>recognition; production would need the appropriate e-signature / PKI mechanism.</a:t>
            </a:r>
          </a:p>
          <a:p/>
          <a:p>
            <a:r>
              <a:t>AI positioning: do not lead with AI. The security problem does not require AI. State plainly:</a:t>
            </a:r>
          </a:p>
          <a:p>
            <a:r>
              <a:t>"AI operates outside the evidence trust boundary and cannot alter original evidence."</a:t>
            </a:r>
          </a:p>
          <a:p/>
          <a:p>
            <a:r>
              <a:t>CLOSING LINE: "PRAMAAN is not built on the assumption that attacks will never happen. It is built</a:t>
            </a:r>
          </a:p>
          <a:p>
            <a:r>
              <a:t>on the assumption that components can be compromised. By separating storage domains and verifying</a:t>
            </a:r>
          </a:p>
          <a:p>
            <a:r>
              <a:t>evidence before release, it limits the impact of partial compromise and prevents corrupted</a:t>
            </a:r>
          </a:p>
          <a:p>
            <a:r>
              <a:t>evidence from being silently served." 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PRAMAAN = "proof / evidence". One-line positioning:</a:t>
            </a:r>
          </a:p>
          <a:p>
            <a:r>
              <a:t>"PRAMAAN is a standalone tamper-evident evidence vault that separates metadata, encrypted</a:t>
            </a:r>
          </a:p>
          <a:p>
            <a:r>
              <a:t>evidence and key material, and verifies integrity before evidence is released."</a:t>
            </a:r>
          </a:p>
          <a:p/>
          <a:p>
            <a:r>
              <a:t>Q: Who is the primary user?</a:t>
            </a:r>
          </a:p>
          <a:p>
            <a:r>
              <a:t>A: An authorised evidence custodian or investigator. Secondary users: reviewers, auditors and</a:t>
            </a:r>
          </a:p>
          <a:p>
            <a:r>
              <a:t>explicitly authorised recipients. Not "everyone".</a:t>
            </a:r>
          </a:p>
          <a:p/>
          <a:p>
            <a:r>
              <a:t>Q: What is the main innovation?</a:t>
            </a:r>
          </a:p>
          <a:p>
            <a:r>
              <a:t>A: The combination of separated trust domains, per-chunk cryptographic isolation, and mandatory</a:t>
            </a:r>
          </a:p>
          <a:p>
            <a:r>
              <a:t>integrity verification before evidence is released. (Do NOT answer "AI + blockchain + AES".)</a:t>
            </a:r>
          </a:p>
          <a:p/>
          <a:p>
            <a:r>
              <a:t>NOTE: fill in Theme and Team ID from the SIH portal before uploading.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29184" y="1316736"/>
            <a:ext cx="5806440" cy="841248"/>
          </a:xfrm>
        </p:spPr>
        <p:txBody>
          <a:bodyPr wrap="square" lIns="45720" rIns="45720" tIns="27432" bIns="27432" anchor="ctr"/>
          <a:lstStyle/>
          <a:p>
            <a:pPr algn="ctr"/>
            <a:r>
              <a:rPr sz="3400" b="1" i="0">
                <a:solidFill>
                  <a:srgbClr val="1F3864"/>
                </a:solidFill>
                <a:latin typeface="Times New Roman"/>
              </a:rPr>
              <a:t>PRAMAAN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200"/>
              </a:spcBef>
            </a:pPr>
            <a:r>
              <a:rPr sz="1500" b="1" i="0">
                <a:solidFill>
                  <a:srgbClr val="1F497D"/>
                </a:solidFill>
                <a:latin typeface="Arial"/>
              </a:rPr>
              <a:t>Secure Evidence Vault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212848"/>
            <a:ext cx="5806440" cy="3017520"/>
          </a:xfrm>
          <a:prstGeom prst="rect">
            <a:avLst/>
          </a:prstGeom>
          <a:noFill/>
        </p:spPr>
        <p:txBody>
          <a:bodyPr wrap="square" rtlCol="0" lIns="18288" rIns="18288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1">
                <a:solidFill>
                  <a:srgbClr val="1F3864"/>
                </a:solidFill>
                <a:latin typeface="Arial"/>
              </a:rPr>
              <a:t>Problem Statement ID – </a:t>
            </a:r>
            <a:r>
              <a:rPr sz="1500" b="0" i="0">
                <a:solidFill>
                  <a:srgbClr val="3B3B3B"/>
                </a:solidFill>
                <a:latin typeface="Arial"/>
              </a:rPr>
              <a:t>26190</a:t>
            </a:r>
            <a:endParaRPr lang="en-US" dirty="0"/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1">
                <a:solidFill>
                  <a:srgbClr val="1F3864"/>
                </a:solidFill>
                <a:latin typeface="Arial"/>
              </a:rPr>
              <a:t>Problem Statement Title – </a:t>
            </a:r>
            <a:r>
              <a:rPr sz="1500" b="0" i="0">
                <a:solidFill>
                  <a:srgbClr val="3B3B3B"/>
                </a:solidFill>
                <a:latin typeface="Arial"/>
              </a:rPr>
              <a:t>Secure Digital Document Management System for law enforcement agencies, courts and investigative departments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1">
                <a:solidFill>
                  <a:srgbClr val="1F3864"/>
                </a:solidFill>
                <a:latin typeface="Arial"/>
              </a:rPr>
              <a:t>Theme – </a:t>
            </a:r>
            <a:r>
              <a:rPr sz="1500" b="0" i="0">
                <a:solidFill>
                  <a:srgbClr val="3B3B3B"/>
                </a:solidFill>
                <a:latin typeface="Arial"/>
              </a:rPr>
              <a:t>Miscellaneous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1">
                <a:solidFill>
                  <a:srgbClr val="1F3864"/>
                </a:solidFill>
                <a:latin typeface="Arial"/>
              </a:rPr>
              <a:t>PS Category – </a:t>
            </a:r>
            <a:r>
              <a:rPr sz="1500" b="0" i="0">
                <a:solidFill>
                  <a:srgbClr val="3B3B3B"/>
                </a:solidFill>
                <a:latin typeface="Arial"/>
              </a:rPr>
              <a:t>Software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1">
                <a:solidFill>
                  <a:srgbClr val="1F3864"/>
                </a:solidFill>
                <a:latin typeface="Arial"/>
              </a:rPr>
              <a:t>Team ID – </a:t>
            </a:r>
            <a:r>
              <a:rPr sz="1500" b="0" i="0">
                <a:solidFill>
                  <a:srgbClr val="3B3B3B"/>
                </a:solidFill>
                <a:latin typeface="Arial"/>
              </a:rPr>
              <a:t>SIH-UPES-2026-T250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1">
                <a:solidFill>
                  <a:srgbClr val="1F3864"/>
                </a:solidFill>
                <a:latin typeface="Arial"/>
              </a:rPr>
              <a:t>Team Name (Registered on portal) – </a:t>
            </a:r>
            <a:r>
              <a:rPr sz="1500" b="0" i="0">
                <a:solidFill>
                  <a:srgbClr val="3B3B3B"/>
                </a:solidFill>
                <a:latin typeface="Arial"/>
              </a:rPr>
              <a:t>leet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29184" y="5358384"/>
            <a:ext cx="5806440" cy="402336"/>
          </a:xfrm>
          <a:prstGeom prst="roundRect">
            <a:avLst>
              <a:gd name="adj" fmla="val 22000"/>
            </a:avLst>
          </a:prstGeom>
          <a:solidFill>
            <a:srgbClr val="DEEAF6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Organisation:  Ministry of Home Affairs  ·  National Crime Records Bureau (NCRB)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" y="5833872"/>
            <a:ext cx="5806440" cy="548640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Separate the trust.   Verify before release.   Record every access.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BDD7EE"/>
                </a:solidFill>
                <a:latin typeface="Arial"/>
              </a:rPr>
              <a:t>Standalone, fully on-premise  ·  no dependency on any external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ctr"/>
            <a:r>
              <a:rPr sz="3000" b="1">
                <a:solidFill>
                  <a:srgbClr val="1F3864"/>
                </a:solidFill>
                <a:latin typeface="Times New Roman"/>
              </a:rPr>
              <a:t>PRAMAAN  —  SECURE EVIDENCE VAULT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864"/>
                </a:solidFill>
                <a:latin typeface="Arial"/>
              </a:rPr>
              <a:t>leet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256032" y="1115568"/>
            <a:ext cx="11676888" cy="292608"/>
          </a:xfrm>
          <a:prstGeom prst="roundRect">
            <a:avLst>
              <a:gd name="adj" fmla="val 28000"/>
            </a:avLst>
          </a:prstGeom>
          <a:solidFill>
            <a:srgbClr val="DEEAF6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Proposed Solution (Idea / Prototype)   |   How it addresses the problem   |   Innovation and uniqueness of the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256032" y="1463040"/>
            <a:ext cx="8686800" cy="21945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/>
              </a:rPr>
              <a:t>TODAY  —  how a case file is actually held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56032" y="1737360"/>
            <a:ext cx="2823210" cy="603504"/>
          </a:xfrm>
          <a:prstGeom prst="roundRect">
            <a:avLst>
              <a:gd name="adj" fmla="val 10000"/>
            </a:avLst>
          </a:prstGeom>
          <a:solidFill>
            <a:srgbClr val="FBE4E4"/>
          </a:solidFill>
          <a:ln w="12700">
            <a:solidFill>
              <a:srgbClr val="E9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00" b="1" i="0">
                <a:solidFill>
                  <a:srgbClr val="A61C1C"/>
                </a:solidFill>
                <a:latin typeface="Arial"/>
              </a:rPr>
              <a:t>Scattered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Paper registers and a shared drive per station. No single index across a case.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207258" y="1737360"/>
            <a:ext cx="2823210" cy="603504"/>
          </a:xfrm>
          <a:prstGeom prst="roundRect">
            <a:avLst>
              <a:gd name="adj" fmla="val 10000"/>
            </a:avLst>
          </a:prstGeom>
          <a:solidFill>
            <a:srgbClr val="FBE4E4"/>
          </a:solidFill>
          <a:ln w="12700">
            <a:solidFill>
              <a:srgbClr val="E9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00" b="1" i="0">
                <a:solidFill>
                  <a:srgbClr val="A61C1C"/>
                </a:solidFill>
                <a:latin typeface="Arial"/>
              </a:rPr>
              <a:t>Co-located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Files, database and keys on one machine. One breach exposes the whole archive.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158484" y="1737360"/>
            <a:ext cx="2823210" cy="603504"/>
          </a:xfrm>
          <a:prstGeom prst="roundRect">
            <a:avLst>
              <a:gd name="adj" fmla="val 10000"/>
            </a:avLst>
          </a:prstGeom>
          <a:solidFill>
            <a:srgbClr val="FBE4E4"/>
          </a:solidFill>
          <a:ln w="12700">
            <a:solidFill>
              <a:srgbClr val="E9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00" b="1" i="0">
                <a:solidFill>
                  <a:srgbClr val="A61C1C"/>
                </a:solidFill>
                <a:latin typeface="Arial"/>
              </a:rPr>
              <a:t>Unprovable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No way to show a document was never altered after it was filed.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9109710" y="1737360"/>
            <a:ext cx="2823210" cy="603504"/>
          </a:xfrm>
          <a:prstGeom prst="roundRect">
            <a:avLst>
              <a:gd name="adj" fmla="val 10000"/>
            </a:avLst>
          </a:prstGeom>
          <a:solidFill>
            <a:srgbClr val="FBE4E4"/>
          </a:solidFill>
          <a:ln w="12700">
            <a:solidFill>
              <a:srgbClr val="E9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00" b="1" i="0">
                <a:solidFill>
                  <a:srgbClr val="A61C1C"/>
                </a:solidFill>
                <a:latin typeface="Arial"/>
              </a:rPr>
              <a:t>Unaccountable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No reliable record of who opened which file, from where, and when.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256032" y="2487168"/>
            <a:ext cx="10972800" cy="21945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/>
              </a:rPr>
              <a:t>PRAMAAN  —  an end-to-end evidence system:  what it does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256032" y="2779776"/>
            <a:ext cx="2809494" cy="1481328"/>
          </a:xfrm>
          <a:prstGeom prst="roundRect">
            <a:avLst>
              <a:gd name="adj" fmla="val 7000"/>
            </a:avLst>
          </a:prstGeom>
          <a:solidFill>
            <a:srgbClr val="DEEAF6"/>
          </a:solidFill>
          <a:ln w="1587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Donut 15369"/>
          <p:cNvSpPr/>
          <p:nvPr/>
        </p:nvSpPr>
        <p:spPr>
          <a:xfrm>
            <a:off x="456322" y="2944368"/>
            <a:ext cx="161958" cy="197510"/>
          </a:xfrm>
          <a:prstGeom prst="donut">
            <a:avLst>
              <a:gd name="adj" fmla="val 2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402336" y="3069457"/>
            <a:ext cx="269930" cy="204094"/>
          </a:xfrm>
          <a:prstGeom prst="roundRect">
            <a:avLst>
              <a:gd name="adj" fmla="val 16000"/>
            </a:avLst>
          </a:prstGeom>
          <a:solidFill>
            <a:srgbClr val="DEEAF6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Oval 15371"/>
          <p:cNvSpPr/>
          <p:nvPr/>
        </p:nvSpPr>
        <p:spPr>
          <a:xfrm>
            <a:off x="510308" y="3135294"/>
            <a:ext cx="53986" cy="79004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822960" y="2926080"/>
            <a:ext cx="2096261" cy="292608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Arial"/>
              </a:rPr>
              <a:t>MFA  +  SESSION CONTROL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02336" y="3328416"/>
            <a:ext cx="2516886" cy="85953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3B3B3B"/>
                </a:solidFill>
                <a:latin typeface="Arial"/>
              </a:rPr>
              <a:t>A time-based second factor at login, on top of the password.</a:t>
            </a:r>
          </a:p>
          <a:p>
            <a:pPr algn="l">
              <a:spcBef>
                <a:spcPts val="4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The session token is verified on every single request, and re-checked before sensitive actions.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3211830" y="2779776"/>
            <a:ext cx="2809494" cy="1481328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 w="158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Document 15375"/>
          <p:cNvSpPr/>
          <p:nvPr/>
        </p:nvSpPr>
        <p:spPr>
          <a:xfrm>
            <a:off x="3358134" y="2944368"/>
            <a:ext cx="256763" cy="329184"/>
          </a:xfrm>
          <a:prstGeom prst="flowChartDocument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ectangle 15376"/>
          <p:cNvSpPr/>
          <p:nvPr/>
        </p:nvSpPr>
        <p:spPr>
          <a:xfrm>
            <a:off x="3391052" y="3003621"/>
            <a:ext cx="85587" cy="2962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Rectangle 15377"/>
          <p:cNvSpPr/>
          <p:nvPr/>
        </p:nvSpPr>
        <p:spPr>
          <a:xfrm>
            <a:off x="3502974" y="3003621"/>
            <a:ext cx="46085" cy="2962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ectangle 15378"/>
          <p:cNvSpPr/>
          <p:nvPr/>
        </p:nvSpPr>
        <p:spPr>
          <a:xfrm>
            <a:off x="3391052" y="3069457"/>
            <a:ext cx="85587" cy="2962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ectangle 15379"/>
          <p:cNvSpPr/>
          <p:nvPr/>
        </p:nvSpPr>
        <p:spPr>
          <a:xfrm>
            <a:off x="3502974" y="3069457"/>
            <a:ext cx="46085" cy="2962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Rectangle 15380"/>
          <p:cNvSpPr/>
          <p:nvPr/>
        </p:nvSpPr>
        <p:spPr>
          <a:xfrm>
            <a:off x="3391052" y="3135294"/>
            <a:ext cx="85587" cy="2962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Rectangle 15381"/>
          <p:cNvSpPr/>
          <p:nvPr/>
        </p:nvSpPr>
        <p:spPr>
          <a:xfrm>
            <a:off x="3502974" y="3135294"/>
            <a:ext cx="46085" cy="2962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3778758" y="2926080"/>
            <a:ext cx="2096261" cy="292608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C55A11"/>
                </a:solidFill>
                <a:latin typeface="Arial"/>
              </a:rPr>
              <a:t>MAGIC-BYTE FILE CHECKS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3358134" y="3328416"/>
            <a:ext cx="2516886" cy="85953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3B3B3B"/>
                </a:solidFill>
                <a:latin typeface="Arial"/>
              </a:rPr>
              <a:t>The real file type is read from the bytes themselves, never from the filename or the browser.</a:t>
            </a:r>
          </a:p>
          <a:p>
            <a:pPr algn="l">
              <a:spcBef>
                <a:spcPts val="4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An executable renamed to .pdf is rejected at upload.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6167628" y="2779776"/>
            <a:ext cx="2809494" cy="1481328"/>
          </a:xfrm>
          <a:prstGeom prst="roundRect">
            <a:avLst>
              <a:gd name="adj" fmla="val 7000"/>
            </a:avLst>
          </a:prstGeom>
          <a:solidFill>
            <a:srgbClr val="E6DDF2"/>
          </a:solidFill>
          <a:ln w="15875">
            <a:solidFill>
              <a:srgbClr val="C3B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Document 15385"/>
          <p:cNvSpPr/>
          <p:nvPr/>
        </p:nvSpPr>
        <p:spPr>
          <a:xfrm>
            <a:off x="6313932" y="2944368"/>
            <a:ext cx="269930" cy="329184"/>
          </a:xfrm>
          <a:prstGeom prst="flowChartDocument">
            <a:avLst/>
          </a:prstGeom>
          <a:solidFill>
            <a:srgbClr val="E6DDF2"/>
          </a:solidFill>
          <a:ln w="15875">
            <a:solidFill>
              <a:srgbClr val="5B3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Rectangle 15386"/>
          <p:cNvSpPr/>
          <p:nvPr/>
        </p:nvSpPr>
        <p:spPr>
          <a:xfrm>
            <a:off x="6330127" y="3089208"/>
            <a:ext cx="237539" cy="29626"/>
          </a:xfrm>
          <a:prstGeom prst="rect">
            <a:avLst/>
          </a:prstGeom>
          <a:solidFill>
            <a:srgbClr val="A6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TextBox 15387"/>
          <p:cNvSpPr txBox="1"/>
          <p:nvPr/>
        </p:nvSpPr>
        <p:spPr>
          <a:xfrm>
            <a:off x="6734556" y="2926080"/>
            <a:ext cx="2096261" cy="292608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B3B8C"/>
                </a:solidFill>
                <a:latin typeface="Arial"/>
              </a:rPr>
              <a:t>OCR  —  DOCUMENT DIGITISATION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6313932" y="3328416"/>
            <a:ext cx="2516886" cy="85953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3B3B3B"/>
                </a:solidFill>
                <a:latin typeface="Arial"/>
              </a:rPr>
              <a:t>Scanned FIRs and charge sheets become searchable text, entirely on-premise.</a:t>
            </a:r>
          </a:p>
          <a:p>
            <a:pPr algn="l">
              <a:spcBef>
                <a:spcPts val="4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Devanagari, Tamil, Telugu, Bengali and Gujarati; low-confidence pages flagged for review.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9123426" y="2779776"/>
            <a:ext cx="2809494" cy="1481328"/>
          </a:xfrm>
          <a:prstGeom prst="roundRect">
            <a:avLst>
              <a:gd name="adj" fmla="val 7000"/>
            </a:avLst>
          </a:prstGeom>
          <a:solidFill>
            <a:srgbClr val="E2F0D9"/>
          </a:solidFill>
          <a:ln w="15875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Oval 15390"/>
          <p:cNvSpPr/>
          <p:nvPr/>
        </p:nvSpPr>
        <p:spPr>
          <a:xfrm>
            <a:off x="9269730" y="2977286"/>
            <a:ext cx="98755" cy="98755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Rounded Rectangle 15391"/>
          <p:cNvSpPr/>
          <p:nvPr/>
        </p:nvSpPr>
        <p:spPr>
          <a:xfrm>
            <a:off x="9263146" y="3095792"/>
            <a:ext cx="111922" cy="138257"/>
          </a:xfrm>
          <a:prstGeom prst="roundRect">
            <a:avLst>
              <a:gd name="adj" fmla="val 35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Oval 15392"/>
          <p:cNvSpPr/>
          <p:nvPr/>
        </p:nvSpPr>
        <p:spPr>
          <a:xfrm>
            <a:off x="9388236" y="2977286"/>
            <a:ext cx="98755" cy="98755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4" name="Rounded Rectangle 15393"/>
          <p:cNvSpPr/>
          <p:nvPr/>
        </p:nvSpPr>
        <p:spPr>
          <a:xfrm>
            <a:off x="9381652" y="3095792"/>
            <a:ext cx="111922" cy="138257"/>
          </a:xfrm>
          <a:prstGeom prst="roundRect">
            <a:avLst>
              <a:gd name="adj" fmla="val 35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Oval 15394"/>
          <p:cNvSpPr/>
          <p:nvPr/>
        </p:nvSpPr>
        <p:spPr>
          <a:xfrm>
            <a:off x="9506742" y="2977286"/>
            <a:ext cx="98755" cy="98755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Rounded Rectangle 15395"/>
          <p:cNvSpPr/>
          <p:nvPr/>
        </p:nvSpPr>
        <p:spPr>
          <a:xfrm>
            <a:off x="9500158" y="3095792"/>
            <a:ext cx="111922" cy="138257"/>
          </a:xfrm>
          <a:prstGeom prst="roundRect">
            <a:avLst>
              <a:gd name="adj" fmla="val 35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9690353" y="2926080"/>
            <a:ext cx="2096261" cy="292608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E7B45"/>
                </a:solidFill>
                <a:latin typeface="Arial"/>
              </a:rPr>
              <a:t>CASE-SCOPED ACCESS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9269730" y="3328416"/>
            <a:ext cx="2516886" cy="85953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3B3B3B"/>
                </a:solidFill>
                <a:latin typeface="Arial"/>
              </a:rPr>
              <a:t>Six roles, plus membership of the specific case, checked on every request.</a:t>
            </a:r>
          </a:p>
          <a:p>
            <a:pPr algn="l">
              <a:spcBef>
                <a:spcPts val="4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A case you are not assigned to returns 404, not 403 — its existence is never confirmed.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256032" y="4407408"/>
            <a:ext cx="2809494" cy="1481328"/>
          </a:xfrm>
          <a:prstGeom prst="roundRect">
            <a:avLst>
              <a:gd name="adj" fmla="val 7000"/>
            </a:avLst>
          </a:prstGeom>
          <a:solidFill>
            <a:srgbClr val="DEEAF6"/>
          </a:solidFill>
          <a:ln w="1587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0" name="Donut 15399"/>
          <p:cNvSpPr/>
          <p:nvPr/>
        </p:nvSpPr>
        <p:spPr>
          <a:xfrm>
            <a:off x="402336" y="4572000"/>
            <a:ext cx="329184" cy="329184"/>
          </a:xfrm>
          <a:prstGeom prst="donut">
            <a:avLst>
              <a:gd name="adj" fmla="val 1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5-Point Star 15400"/>
          <p:cNvSpPr/>
          <p:nvPr/>
        </p:nvSpPr>
        <p:spPr>
          <a:xfrm>
            <a:off x="474756" y="4644420"/>
            <a:ext cx="184343" cy="184343"/>
          </a:xfrm>
          <a:prstGeom prst="star5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TextBox 15401"/>
          <p:cNvSpPr txBox="1"/>
          <p:nvPr/>
        </p:nvSpPr>
        <p:spPr>
          <a:xfrm>
            <a:off x="822960" y="4553712"/>
            <a:ext cx="2096261" cy="292608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Arial"/>
              </a:rPr>
              <a:t>DIGITAL SIGNATURES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402336" y="4956048"/>
            <a:ext cx="2516886" cy="85953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3B3B3B"/>
                </a:solidFill>
                <a:latin typeface="Arial"/>
              </a:rPr>
              <a:t>An officer signs a document cryptographically to record approval.</a:t>
            </a:r>
          </a:p>
          <a:p>
            <a:pPr algn="l">
              <a:spcBef>
                <a:spcPts val="4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Any later modification makes that signature fail verification, visibly.</a:t>
            </a:r>
          </a:p>
        </p:txBody>
      </p:sp>
      <p:sp>
        <p:nvSpPr>
          <p:cNvPr id="15404" name="Rounded Rectangle 15403"/>
          <p:cNvSpPr/>
          <p:nvPr/>
        </p:nvSpPr>
        <p:spPr>
          <a:xfrm>
            <a:off x="3211830" y="4407408"/>
            <a:ext cx="2809494" cy="1481328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 w="158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5" name="Rounded Rectangle 15404"/>
          <p:cNvSpPr/>
          <p:nvPr/>
        </p:nvSpPr>
        <p:spPr>
          <a:xfrm>
            <a:off x="3358134" y="4624669"/>
            <a:ext cx="204094" cy="223845"/>
          </a:xfrm>
          <a:prstGeom prst="roundRect">
            <a:avLst>
              <a:gd name="adj" fmla="val 1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6" name="Right Arrow 15405"/>
          <p:cNvSpPr/>
          <p:nvPr/>
        </p:nvSpPr>
        <p:spPr>
          <a:xfrm>
            <a:off x="3529309" y="4697089"/>
            <a:ext cx="158008" cy="79004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7" name="TextBox 15406"/>
          <p:cNvSpPr txBox="1"/>
          <p:nvPr/>
        </p:nvSpPr>
        <p:spPr>
          <a:xfrm>
            <a:off x="3778758" y="4553712"/>
            <a:ext cx="2096261" cy="292608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C55A11"/>
                </a:solidFill>
                <a:latin typeface="Arial"/>
              </a:rPr>
              <a:t>RECIPIENT-BOUND SHARING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3358134" y="4956048"/>
            <a:ext cx="2516886" cy="85953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3B3B3B"/>
                </a:solidFill>
                <a:latin typeface="Arial"/>
              </a:rPr>
              <a:t>Time-limited, revocable access for a named recipient — not an open link.</a:t>
            </a:r>
          </a:p>
          <a:p>
            <a:pPr algn="l">
              <a:spcBef>
                <a:spcPts val="4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Every access is recorded against the document it opened.</a:t>
            </a:r>
          </a:p>
        </p:txBody>
      </p:sp>
      <p:sp>
        <p:nvSpPr>
          <p:cNvPr id="15409" name="Rounded Rectangle 15408"/>
          <p:cNvSpPr/>
          <p:nvPr/>
        </p:nvSpPr>
        <p:spPr>
          <a:xfrm>
            <a:off x="6167628" y="4407408"/>
            <a:ext cx="2809494" cy="1481328"/>
          </a:xfrm>
          <a:prstGeom prst="roundRect">
            <a:avLst>
              <a:gd name="adj" fmla="val 7000"/>
            </a:avLst>
          </a:prstGeom>
          <a:solidFill>
            <a:srgbClr val="E6DDF2"/>
          </a:solidFill>
          <a:ln w="15875">
            <a:solidFill>
              <a:srgbClr val="C3B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0" name="Donut 15409"/>
          <p:cNvSpPr/>
          <p:nvPr/>
        </p:nvSpPr>
        <p:spPr>
          <a:xfrm>
            <a:off x="6313932" y="4572000"/>
            <a:ext cx="243596" cy="243596"/>
          </a:xfrm>
          <a:prstGeom prst="donut">
            <a:avLst>
              <a:gd name="adj" fmla="val 20000"/>
            </a:avLst>
          </a:prstGeom>
          <a:solidFill>
            <a:srgbClr val="5B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1" name="Rectangle 15410"/>
          <p:cNvSpPr/>
          <p:nvPr/>
        </p:nvSpPr>
        <p:spPr>
          <a:xfrm rot="2700000">
            <a:off x="6518026" y="4776094"/>
            <a:ext cx="111922" cy="46085"/>
          </a:xfrm>
          <a:prstGeom prst="rect">
            <a:avLst/>
          </a:prstGeom>
          <a:solidFill>
            <a:srgbClr val="5B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2" name="TextBox 15411"/>
          <p:cNvSpPr txBox="1"/>
          <p:nvPr/>
        </p:nvSpPr>
        <p:spPr>
          <a:xfrm>
            <a:off x="6734556" y="4553712"/>
            <a:ext cx="2096261" cy="292608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B3B8C"/>
                </a:solidFill>
                <a:latin typeface="Arial"/>
              </a:rPr>
              <a:t>SEARCH ACROSS A CASE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6313932" y="4956048"/>
            <a:ext cx="2516886" cy="85953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3B3B3B"/>
                </a:solidFill>
                <a:latin typeface="Arial"/>
              </a:rPr>
              <a:t>Filenames, tags, document type, dates and digitised text, in one query.</a:t>
            </a:r>
          </a:p>
          <a:p>
            <a:pPr algn="l">
              <a:spcBef>
                <a:spcPts val="4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Results are always filtered to what that officer is allowed to see.</a:t>
            </a:r>
          </a:p>
        </p:txBody>
      </p:sp>
      <p:sp>
        <p:nvSpPr>
          <p:cNvPr id="15414" name="Rounded Rectangle 15413"/>
          <p:cNvSpPr/>
          <p:nvPr/>
        </p:nvSpPr>
        <p:spPr>
          <a:xfrm>
            <a:off x="9123426" y="4407408"/>
            <a:ext cx="2809494" cy="1481328"/>
          </a:xfrm>
          <a:prstGeom prst="roundRect">
            <a:avLst>
              <a:gd name="adj" fmla="val 7000"/>
            </a:avLst>
          </a:prstGeom>
          <a:solidFill>
            <a:srgbClr val="E2F0D9"/>
          </a:solidFill>
          <a:ln w="15875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5" name="Donut 15414"/>
          <p:cNvSpPr/>
          <p:nvPr/>
        </p:nvSpPr>
        <p:spPr>
          <a:xfrm>
            <a:off x="9269730" y="4664171"/>
            <a:ext cx="138257" cy="138257"/>
          </a:xfrm>
          <a:prstGeom prst="donut">
            <a:avLst>
              <a:gd name="adj" fmla="val 26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6" name="Donut 15415"/>
          <p:cNvSpPr/>
          <p:nvPr/>
        </p:nvSpPr>
        <p:spPr>
          <a:xfrm>
            <a:off x="9363744" y="4664171"/>
            <a:ext cx="138257" cy="138257"/>
          </a:xfrm>
          <a:prstGeom prst="donut">
            <a:avLst>
              <a:gd name="adj" fmla="val 26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7" name="Donut 15416"/>
          <p:cNvSpPr/>
          <p:nvPr/>
        </p:nvSpPr>
        <p:spPr>
          <a:xfrm>
            <a:off x="9457759" y="4664171"/>
            <a:ext cx="138257" cy="138257"/>
          </a:xfrm>
          <a:prstGeom prst="donut">
            <a:avLst>
              <a:gd name="adj" fmla="val 26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8" name="TextBox 15417"/>
          <p:cNvSpPr txBox="1"/>
          <p:nvPr/>
        </p:nvSpPr>
        <p:spPr>
          <a:xfrm>
            <a:off x="9690353" y="4553712"/>
            <a:ext cx="2096261" cy="292608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E7B45"/>
                </a:solidFill>
                <a:latin typeface="Arial"/>
              </a:rPr>
              <a:t>TAMPER-EVIDENT AUDIT TRAIL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9269730" y="4956048"/>
            <a:ext cx="2516886" cy="85953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3B3B3B"/>
                </a:solidFill>
                <a:latin typeface="Arial"/>
              </a:rPr>
              <a:t>Every login, upload, download, signature and share is recorded.</a:t>
            </a:r>
          </a:p>
          <a:p>
            <a:pPr algn="l">
              <a:spcBef>
                <a:spcPts val="4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Each record is chained to the one before it, so a retroactive edit fails verification.</a:t>
            </a:r>
          </a:p>
        </p:txBody>
      </p:sp>
      <p:sp>
        <p:nvSpPr>
          <p:cNvPr id="15420" name="TextBox 15419"/>
          <p:cNvSpPr txBox="1"/>
          <p:nvPr/>
        </p:nvSpPr>
        <p:spPr>
          <a:xfrm>
            <a:off x="256032" y="5943600"/>
            <a:ext cx="11676888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One rule holds all of it together:   evidence is never released if its integrity cannot be verified.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3200" b="1">
                <a:solidFill>
                  <a:srgbClr val="1F3864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864"/>
                </a:solidFill>
                <a:latin typeface="Arial"/>
              </a:rPr>
              <a:t>leet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56032" y="1115568"/>
            <a:ext cx="11676888" cy="292608"/>
          </a:xfrm>
          <a:prstGeom prst="roundRect">
            <a:avLst>
              <a:gd name="adj" fmla="val 28000"/>
            </a:avLst>
          </a:prstGeom>
          <a:solidFill>
            <a:srgbClr val="DEEAF6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Technologies to be used   |   Methodology and process for implementation (Flow Charts / Images / working prototype)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256032" y="1463040"/>
            <a:ext cx="8686800" cy="21945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/>
              </a:rPr>
              <a:t>SECURITY ARCHITECTURE  —  one document, end to end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85216" y="1773936"/>
            <a:ext cx="841248" cy="48646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677753" y="1850379"/>
            <a:ext cx="656173" cy="291876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ectangle 17413"/>
          <p:cNvSpPr/>
          <p:nvPr/>
        </p:nvSpPr>
        <p:spPr>
          <a:xfrm>
            <a:off x="946952" y="2260396"/>
            <a:ext cx="117774" cy="104241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787115" y="2364638"/>
            <a:ext cx="437448" cy="76443"/>
          </a:xfrm>
          <a:prstGeom prst="roundRect">
            <a:avLst>
              <a:gd name="adj" fmla="val 4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274320" y="2542032"/>
            <a:ext cx="1463040" cy="347472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1F497D"/>
                </a:solidFill>
                <a:latin typeface="Arial"/>
              </a:rPr>
              <a:t>OFFICER</a:t>
            </a:r>
          </a:p>
          <a:p>
            <a:pPr algn="ctr">
              <a:spcBef>
                <a:spcPts val="100"/>
              </a:spcBef>
            </a:pPr>
            <a:r>
              <a:rPr sz="700" b="0" i="0">
                <a:solidFill>
                  <a:srgbClr val="595959"/>
                </a:solidFill>
                <a:latin typeface="Arial"/>
              </a:rPr>
              <a:t>browser holds no keys and no plaintext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1847088" y="2029968"/>
            <a:ext cx="347472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2468880" y="1773936"/>
            <a:ext cx="841248" cy="694944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2578242" y="1885127"/>
            <a:ext cx="471098" cy="76443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Oval 17419"/>
          <p:cNvSpPr/>
          <p:nvPr/>
        </p:nvSpPr>
        <p:spPr>
          <a:xfrm>
            <a:off x="3108228" y="1885127"/>
            <a:ext cx="92537" cy="76443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2578242" y="2065812"/>
            <a:ext cx="471098" cy="76443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Oval 17421"/>
          <p:cNvSpPr/>
          <p:nvPr/>
        </p:nvSpPr>
        <p:spPr>
          <a:xfrm>
            <a:off x="3108228" y="2065812"/>
            <a:ext cx="92537" cy="76443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ectangle 17422"/>
          <p:cNvSpPr/>
          <p:nvPr/>
        </p:nvSpPr>
        <p:spPr>
          <a:xfrm>
            <a:off x="2578242" y="2246497"/>
            <a:ext cx="471098" cy="76443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3108228" y="2246497"/>
            <a:ext cx="92537" cy="76443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2066543" y="2542032"/>
            <a:ext cx="1645920" cy="347472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C55A11"/>
                </a:solidFill>
                <a:latin typeface="Arial"/>
              </a:rPr>
              <a:t>APPLICATION SERVER</a:t>
            </a:r>
          </a:p>
          <a:p>
            <a:pPr algn="ctr">
              <a:spcBef>
                <a:spcPts val="100"/>
              </a:spcBef>
            </a:pPr>
            <a:r>
              <a:rPr sz="700" b="0" i="0">
                <a:solidFill>
                  <a:srgbClr val="595959"/>
                </a:solidFill>
                <a:latin typeface="Arial"/>
              </a:rPr>
              <a:t>every request authenticated and authorised; stores no bytes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3822191" y="2029968"/>
            <a:ext cx="347472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Document 17426"/>
          <p:cNvSpPr/>
          <p:nvPr/>
        </p:nvSpPr>
        <p:spPr>
          <a:xfrm>
            <a:off x="4443984" y="1773936"/>
            <a:ext cx="640080" cy="694944"/>
          </a:xfrm>
          <a:prstGeom prst="flowChartDocument">
            <a:avLst/>
          </a:prstGeom>
          <a:solidFill>
            <a:srgbClr val="F2F2F2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4559198" y="1926823"/>
            <a:ext cx="409651" cy="4864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4559198" y="2044964"/>
            <a:ext cx="409651" cy="4864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ectangle 17429"/>
          <p:cNvSpPr/>
          <p:nvPr/>
        </p:nvSpPr>
        <p:spPr>
          <a:xfrm>
            <a:off x="4559198" y="2163104"/>
            <a:ext cx="409651" cy="4864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4059936" y="2542032"/>
            <a:ext cx="1463040" cy="347472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1F3864"/>
                </a:solidFill>
                <a:latin typeface="Arial"/>
              </a:rPr>
              <a:t>THE EXHIBIT</a:t>
            </a:r>
          </a:p>
          <a:p>
            <a:pPr algn="ctr">
              <a:spcBef>
                <a:spcPts val="100"/>
              </a:spcBef>
            </a:pPr>
            <a:r>
              <a:rPr sz="700" b="0" i="0">
                <a:solidFill>
                  <a:srgbClr val="595959"/>
                </a:solidFill>
                <a:latin typeface="Arial"/>
              </a:rPr>
              <a:t>up to 500 MB (prototype limit)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5577840" y="2029968"/>
            <a:ext cx="347472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6163056" y="1865376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6702552" y="1865376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7242048" y="1865376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7781544" y="1865376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5907024" y="2542032"/>
            <a:ext cx="2194560" cy="347472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Arial"/>
              </a:rPr>
              <a:t>SPLIT INTO 1 MB CHUNKS</a:t>
            </a:r>
          </a:p>
          <a:p>
            <a:pPr algn="ctr">
              <a:spcBef>
                <a:spcPts val="100"/>
              </a:spcBef>
            </a:pPr>
            <a:r>
              <a:rPr sz="700" b="0" i="0">
                <a:solidFill>
                  <a:srgbClr val="595959"/>
                </a:solidFill>
                <a:latin typeface="Arial"/>
              </a:rPr>
              <a:t>streamed — never held whole in memory</a:t>
            </a:r>
          </a:p>
        </p:txBody>
      </p:sp>
      <p:sp>
        <p:nvSpPr>
          <p:cNvPr id="17438" name="Right Arrow 17437"/>
          <p:cNvSpPr/>
          <p:nvPr/>
        </p:nvSpPr>
        <p:spPr>
          <a:xfrm>
            <a:off x="8321040" y="2029968"/>
            <a:ext cx="347472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Donut 17438"/>
          <p:cNvSpPr/>
          <p:nvPr/>
        </p:nvSpPr>
        <p:spPr>
          <a:xfrm>
            <a:off x="8869680" y="1828800"/>
            <a:ext cx="235549" cy="235549"/>
          </a:xfrm>
          <a:prstGeom prst="donut">
            <a:avLst>
              <a:gd name="adj" fmla="val 30000"/>
            </a:avLst>
          </a:prstGeom>
          <a:solidFill>
            <a:srgbClr val="5B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ectangle 17439"/>
          <p:cNvSpPr/>
          <p:nvPr/>
        </p:nvSpPr>
        <p:spPr>
          <a:xfrm>
            <a:off x="9058119" y="1915850"/>
            <a:ext cx="341912" cy="56327"/>
          </a:xfrm>
          <a:prstGeom prst="rect">
            <a:avLst/>
          </a:prstGeom>
          <a:solidFill>
            <a:srgbClr val="5B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ectangle 17440"/>
          <p:cNvSpPr/>
          <p:nvPr/>
        </p:nvSpPr>
        <p:spPr>
          <a:xfrm>
            <a:off x="9251533" y="1972177"/>
            <a:ext cx="37124" cy="66568"/>
          </a:xfrm>
          <a:prstGeom prst="rect">
            <a:avLst/>
          </a:prstGeom>
          <a:solidFill>
            <a:srgbClr val="5B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ectangle 17441"/>
          <p:cNvSpPr/>
          <p:nvPr/>
        </p:nvSpPr>
        <p:spPr>
          <a:xfrm>
            <a:off x="9325782" y="1972177"/>
            <a:ext cx="37124" cy="66568"/>
          </a:xfrm>
          <a:prstGeom prst="rect">
            <a:avLst/>
          </a:prstGeom>
          <a:solidFill>
            <a:srgbClr val="5B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ounded Rectangle 17442"/>
          <p:cNvSpPr/>
          <p:nvPr/>
        </p:nvSpPr>
        <p:spPr>
          <a:xfrm>
            <a:off x="9619488" y="1865376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E2F0D9"/>
          </a:solidFill>
          <a:ln w="1270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Donut 17443"/>
          <p:cNvSpPr/>
          <p:nvPr/>
        </p:nvSpPr>
        <p:spPr>
          <a:xfrm>
            <a:off x="9745675" y="1932675"/>
            <a:ext cx="168249" cy="126187"/>
          </a:xfrm>
          <a:prstGeom prst="donut">
            <a:avLst>
              <a:gd name="adj" fmla="val 24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9712025" y="2042038"/>
            <a:ext cx="235549" cy="159837"/>
          </a:xfrm>
          <a:prstGeom prst="roundRect">
            <a:avLst>
              <a:gd name="adj" fmla="val 18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Rounded Rectangle 17445"/>
          <p:cNvSpPr/>
          <p:nvPr/>
        </p:nvSpPr>
        <p:spPr>
          <a:xfrm>
            <a:off x="10158984" y="1865376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E2F0D9"/>
          </a:solidFill>
          <a:ln w="1270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Donut 17446"/>
          <p:cNvSpPr/>
          <p:nvPr/>
        </p:nvSpPr>
        <p:spPr>
          <a:xfrm>
            <a:off x="10285171" y="1932675"/>
            <a:ext cx="168249" cy="126187"/>
          </a:xfrm>
          <a:prstGeom prst="donut">
            <a:avLst>
              <a:gd name="adj" fmla="val 24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Rounded Rectangle 17447"/>
          <p:cNvSpPr/>
          <p:nvPr/>
        </p:nvSpPr>
        <p:spPr>
          <a:xfrm>
            <a:off x="10251521" y="2042038"/>
            <a:ext cx="235549" cy="159837"/>
          </a:xfrm>
          <a:prstGeom prst="roundRect">
            <a:avLst>
              <a:gd name="adj" fmla="val 18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ounded Rectangle 17448"/>
          <p:cNvSpPr/>
          <p:nvPr/>
        </p:nvSpPr>
        <p:spPr>
          <a:xfrm>
            <a:off x="10698480" y="1865376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E2F0D9"/>
          </a:solidFill>
          <a:ln w="1270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Donut 17449"/>
          <p:cNvSpPr/>
          <p:nvPr/>
        </p:nvSpPr>
        <p:spPr>
          <a:xfrm>
            <a:off x="10824667" y="1932675"/>
            <a:ext cx="168249" cy="126187"/>
          </a:xfrm>
          <a:prstGeom prst="donut">
            <a:avLst>
              <a:gd name="adj" fmla="val 24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Rounded Rectangle 17450"/>
          <p:cNvSpPr/>
          <p:nvPr/>
        </p:nvSpPr>
        <p:spPr>
          <a:xfrm>
            <a:off x="10791017" y="2042038"/>
            <a:ext cx="235549" cy="159837"/>
          </a:xfrm>
          <a:prstGeom prst="roundRect">
            <a:avLst>
              <a:gd name="adj" fmla="val 18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ounded Rectangle 17451"/>
          <p:cNvSpPr/>
          <p:nvPr/>
        </p:nvSpPr>
        <p:spPr>
          <a:xfrm>
            <a:off x="11237976" y="1865376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E2F0D9"/>
          </a:solidFill>
          <a:ln w="1270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Donut 17452"/>
          <p:cNvSpPr/>
          <p:nvPr/>
        </p:nvSpPr>
        <p:spPr>
          <a:xfrm>
            <a:off x="11364163" y="1932675"/>
            <a:ext cx="168249" cy="126187"/>
          </a:xfrm>
          <a:prstGeom prst="donut">
            <a:avLst>
              <a:gd name="adj" fmla="val 24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Rounded Rectangle 17453"/>
          <p:cNvSpPr/>
          <p:nvPr/>
        </p:nvSpPr>
        <p:spPr>
          <a:xfrm>
            <a:off x="11330513" y="2042038"/>
            <a:ext cx="235549" cy="159837"/>
          </a:xfrm>
          <a:prstGeom prst="roundRect">
            <a:avLst>
              <a:gd name="adj" fmla="val 18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8595360" y="2542032"/>
            <a:ext cx="3337560" cy="40233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1E7B45"/>
                </a:solidFill>
                <a:latin typeface="Arial"/>
              </a:rPr>
              <a:t>A DERIVED KEY PER CHUNK  →  AES-256-GCM</a:t>
            </a:r>
          </a:p>
          <a:p>
            <a:pPr algn="ctr">
              <a:spcBef>
                <a:spcPts val="100"/>
              </a:spcBef>
            </a:pPr>
            <a:r>
              <a:rPr sz="700" b="0" i="0">
                <a:solidFill>
                  <a:srgbClr val="595959"/>
                </a:solidFill>
                <a:latin typeface="Arial"/>
              </a:rPr>
              <a:t>HKDF from the master key · fresh 96-bit IV · SHA-256 per chunk, then one document hash</a:t>
            </a:r>
          </a:p>
        </p:txBody>
      </p:sp>
      <p:sp>
        <p:nvSpPr>
          <p:cNvPr id="17456" name="Down Arrow 17455"/>
          <p:cNvSpPr/>
          <p:nvPr/>
        </p:nvSpPr>
        <p:spPr>
          <a:xfrm>
            <a:off x="2240279" y="3035808"/>
            <a:ext cx="182880" cy="164592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Down Arrow 17456"/>
          <p:cNvSpPr/>
          <p:nvPr/>
        </p:nvSpPr>
        <p:spPr>
          <a:xfrm>
            <a:off x="5998464" y="3035808"/>
            <a:ext cx="182880" cy="164592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Down Arrow 17457"/>
          <p:cNvSpPr/>
          <p:nvPr/>
        </p:nvSpPr>
        <p:spPr>
          <a:xfrm>
            <a:off x="9756648" y="3035808"/>
            <a:ext cx="182880" cy="164592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Rounded Rectangle 17458"/>
          <p:cNvSpPr/>
          <p:nvPr/>
        </p:nvSpPr>
        <p:spPr>
          <a:xfrm>
            <a:off x="548640" y="3273552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Magnetic Disk 17459"/>
          <p:cNvSpPr/>
          <p:nvPr/>
        </p:nvSpPr>
        <p:spPr>
          <a:xfrm>
            <a:off x="749808" y="3456432"/>
            <a:ext cx="621792" cy="603504"/>
          </a:xfrm>
          <a:prstGeom prst="flowChartMagneticDisk">
            <a:avLst/>
          </a:prstGeom>
          <a:solidFill>
            <a:srgbClr val="DEEAF6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1481328" y="3419856"/>
            <a:ext cx="2523744" cy="1024128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SERVER A</a:t>
            </a:r>
          </a:p>
          <a:p>
            <a:pPr algn="l">
              <a:spcBef>
                <a:spcPts val="100"/>
              </a:spcBef>
            </a:pPr>
            <a:r>
              <a:rPr sz="750" b="1" i="0">
                <a:solidFill>
                  <a:srgbClr val="595959"/>
                </a:solidFill>
                <a:latin typeface="Arial"/>
              </a:rPr>
              <a:t>PostgreSQL  ·  metadata only</a:t>
            </a:r>
          </a:p>
          <a:p>
            <a:pPr algn="l">
              <a:spcBef>
                <a:spcPts val="30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chunk order · IV · chunk hashes · document hash · search index · audit chain</a:t>
            </a:r>
          </a:p>
          <a:p>
            <a:pPr algn="l">
              <a:spcBef>
                <a:spcPts val="300"/>
              </a:spcBef>
            </a:pPr>
            <a:r>
              <a:rPr sz="750" b="1" i="0">
                <a:solidFill>
                  <a:srgbClr val="A61C1C"/>
                </a:solidFill>
                <a:latin typeface="Arial"/>
              </a:rPr>
              <a:t>✗  no document bytes, ever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4306824" y="3273552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Rounded Rectangle 17462"/>
          <p:cNvSpPr/>
          <p:nvPr/>
        </p:nvSpPr>
        <p:spPr>
          <a:xfrm>
            <a:off x="4507992" y="3419856"/>
            <a:ext cx="585216" cy="64008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Rectangle 17463"/>
          <p:cNvSpPr/>
          <p:nvPr/>
        </p:nvSpPr>
        <p:spPr>
          <a:xfrm>
            <a:off x="4584070" y="3522268"/>
            <a:ext cx="327720" cy="7040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Oval 17464"/>
          <p:cNvSpPr/>
          <p:nvPr/>
        </p:nvSpPr>
        <p:spPr>
          <a:xfrm>
            <a:off x="4952756" y="3522268"/>
            <a:ext cx="64373" cy="70408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Rectangle 17465"/>
          <p:cNvSpPr/>
          <p:nvPr/>
        </p:nvSpPr>
        <p:spPr>
          <a:xfrm>
            <a:off x="4584070" y="3688689"/>
            <a:ext cx="327720" cy="7040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Oval 17466"/>
          <p:cNvSpPr/>
          <p:nvPr/>
        </p:nvSpPr>
        <p:spPr>
          <a:xfrm>
            <a:off x="4952756" y="3688689"/>
            <a:ext cx="64373" cy="70408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Rectangle 17467"/>
          <p:cNvSpPr/>
          <p:nvPr/>
        </p:nvSpPr>
        <p:spPr>
          <a:xfrm>
            <a:off x="4584070" y="3855110"/>
            <a:ext cx="327720" cy="7040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Oval 17468"/>
          <p:cNvSpPr/>
          <p:nvPr/>
        </p:nvSpPr>
        <p:spPr>
          <a:xfrm>
            <a:off x="4952756" y="3855110"/>
            <a:ext cx="64373" cy="70408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Rounded Rectangle 17469"/>
          <p:cNvSpPr/>
          <p:nvPr/>
        </p:nvSpPr>
        <p:spPr>
          <a:xfrm>
            <a:off x="4526280" y="4133087"/>
            <a:ext cx="164592" cy="164592"/>
          </a:xfrm>
          <a:prstGeom prst="roundRect">
            <a:avLst>
              <a:gd name="adj" fmla="val 14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1" name="Donut 17470"/>
          <p:cNvSpPr/>
          <p:nvPr/>
        </p:nvSpPr>
        <p:spPr>
          <a:xfrm>
            <a:off x="4575657" y="4159422"/>
            <a:ext cx="65836" cy="49377"/>
          </a:xfrm>
          <a:prstGeom prst="donut">
            <a:avLst>
              <a:gd name="adj" fmla="val 24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Rounded Rectangle 17471"/>
          <p:cNvSpPr/>
          <p:nvPr/>
        </p:nvSpPr>
        <p:spPr>
          <a:xfrm>
            <a:off x="4562490" y="4202216"/>
            <a:ext cx="92171" cy="62544"/>
          </a:xfrm>
          <a:prstGeom prst="roundRect">
            <a:avLst>
              <a:gd name="adj" fmla="val 18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Rounded Rectangle 17472"/>
          <p:cNvSpPr/>
          <p:nvPr/>
        </p:nvSpPr>
        <p:spPr>
          <a:xfrm>
            <a:off x="4745736" y="4133087"/>
            <a:ext cx="164592" cy="164592"/>
          </a:xfrm>
          <a:prstGeom prst="roundRect">
            <a:avLst>
              <a:gd name="adj" fmla="val 14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Donut 17473"/>
          <p:cNvSpPr/>
          <p:nvPr/>
        </p:nvSpPr>
        <p:spPr>
          <a:xfrm>
            <a:off x="4795113" y="4159422"/>
            <a:ext cx="65836" cy="49377"/>
          </a:xfrm>
          <a:prstGeom prst="donut">
            <a:avLst>
              <a:gd name="adj" fmla="val 24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Rounded Rectangle 17474"/>
          <p:cNvSpPr/>
          <p:nvPr/>
        </p:nvSpPr>
        <p:spPr>
          <a:xfrm>
            <a:off x="4781946" y="4202216"/>
            <a:ext cx="92171" cy="62544"/>
          </a:xfrm>
          <a:prstGeom prst="roundRect">
            <a:avLst>
              <a:gd name="adj" fmla="val 18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Rounded Rectangle 17475"/>
          <p:cNvSpPr/>
          <p:nvPr/>
        </p:nvSpPr>
        <p:spPr>
          <a:xfrm>
            <a:off x="4965192" y="4133087"/>
            <a:ext cx="164592" cy="164592"/>
          </a:xfrm>
          <a:prstGeom prst="roundRect">
            <a:avLst>
              <a:gd name="adj" fmla="val 14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Donut 17476"/>
          <p:cNvSpPr/>
          <p:nvPr/>
        </p:nvSpPr>
        <p:spPr>
          <a:xfrm>
            <a:off x="5014569" y="4159422"/>
            <a:ext cx="65836" cy="49377"/>
          </a:xfrm>
          <a:prstGeom prst="donut">
            <a:avLst>
              <a:gd name="adj" fmla="val 24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8" name="Rounded Rectangle 17477"/>
          <p:cNvSpPr/>
          <p:nvPr/>
        </p:nvSpPr>
        <p:spPr>
          <a:xfrm>
            <a:off x="5001402" y="4202216"/>
            <a:ext cx="92171" cy="62544"/>
          </a:xfrm>
          <a:prstGeom prst="roundRect">
            <a:avLst>
              <a:gd name="adj" fmla="val 18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TextBox 17478"/>
          <p:cNvSpPr txBox="1"/>
          <p:nvPr/>
        </p:nvSpPr>
        <p:spPr>
          <a:xfrm>
            <a:off x="5239512" y="3419856"/>
            <a:ext cx="2523744" cy="1024128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C55A11"/>
                </a:solidFill>
                <a:latin typeface="Arial"/>
              </a:rPr>
              <a:t>SERVER B</a:t>
            </a:r>
          </a:p>
          <a:p>
            <a:pPr algn="l">
              <a:spcBef>
                <a:spcPts val="100"/>
              </a:spcBef>
            </a:pPr>
            <a:r>
              <a:rPr sz="750" b="1" i="0">
                <a:solidFill>
                  <a:srgbClr val="595959"/>
                </a:solidFill>
                <a:latin typeface="Arial"/>
              </a:rPr>
              <a:t>encrypted chunk store  ·  ciphertext only</a:t>
            </a:r>
          </a:p>
          <a:p>
            <a:pPr algn="l">
              <a:spcBef>
                <a:spcPts val="30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one AES-GCM object per chunk, each carrying its own authentication tag</a:t>
            </a:r>
          </a:p>
          <a:p>
            <a:pPr algn="l">
              <a:spcBef>
                <a:spcPts val="300"/>
              </a:spcBef>
            </a:pPr>
            <a:r>
              <a:rPr sz="750" b="1" i="0">
                <a:solidFill>
                  <a:srgbClr val="A61C1C"/>
                </a:solidFill>
                <a:latin typeface="Arial"/>
              </a:rPr>
              <a:t>✗  no keys, no plaintext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8065008" y="3273552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1" name="Rounded Rectangle 17480"/>
          <p:cNvSpPr/>
          <p:nvPr/>
        </p:nvSpPr>
        <p:spPr>
          <a:xfrm>
            <a:off x="8247888" y="3438144"/>
            <a:ext cx="640080" cy="603504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905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2" name="Rectangle 17481"/>
          <p:cNvSpPr/>
          <p:nvPr/>
        </p:nvSpPr>
        <p:spPr>
          <a:xfrm>
            <a:off x="8299094" y="3498494"/>
            <a:ext cx="537667" cy="482803"/>
          </a:xfrm>
          <a:prstGeom prst="rect">
            <a:avLst/>
          </a:prstGeom>
          <a:noFill/>
          <a:ln w="9525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3" name="Donut 17482"/>
          <p:cNvSpPr/>
          <p:nvPr/>
        </p:nvSpPr>
        <p:spPr>
          <a:xfrm>
            <a:off x="8465515" y="3619195"/>
            <a:ext cx="204825" cy="241401"/>
          </a:xfrm>
          <a:prstGeom prst="donut">
            <a:avLst>
              <a:gd name="adj" fmla="val 26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4" name="Donut 17483"/>
          <p:cNvSpPr/>
          <p:nvPr/>
        </p:nvSpPr>
        <p:spPr>
          <a:xfrm>
            <a:off x="8321040" y="4151376"/>
            <a:ext cx="201899" cy="201899"/>
          </a:xfrm>
          <a:prstGeom prst="donut">
            <a:avLst>
              <a:gd name="adj" fmla="val 3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5" name="Rectangle 17484"/>
          <p:cNvSpPr/>
          <p:nvPr/>
        </p:nvSpPr>
        <p:spPr>
          <a:xfrm>
            <a:off x="8482559" y="4225991"/>
            <a:ext cx="295680" cy="48280"/>
          </a:xfrm>
          <a:prstGeom prst="rect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6" name="Rectangle 17485"/>
          <p:cNvSpPr/>
          <p:nvPr/>
        </p:nvSpPr>
        <p:spPr>
          <a:xfrm>
            <a:off x="8650224" y="4274271"/>
            <a:ext cx="32004" cy="57058"/>
          </a:xfrm>
          <a:prstGeom prst="rect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7" name="Rectangle 17486"/>
          <p:cNvSpPr/>
          <p:nvPr/>
        </p:nvSpPr>
        <p:spPr>
          <a:xfrm>
            <a:off x="8714232" y="4274271"/>
            <a:ext cx="32004" cy="57058"/>
          </a:xfrm>
          <a:prstGeom prst="rect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8" name="TextBox 17487"/>
          <p:cNvSpPr txBox="1"/>
          <p:nvPr/>
        </p:nvSpPr>
        <p:spPr>
          <a:xfrm>
            <a:off x="8997696" y="3419856"/>
            <a:ext cx="2523744" cy="1024128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E7B45"/>
                </a:solidFill>
                <a:latin typeface="Arial"/>
              </a:rPr>
              <a:t>KMS</a:t>
            </a:r>
          </a:p>
          <a:p>
            <a:pPr algn="l">
              <a:spcBef>
                <a:spcPts val="100"/>
              </a:spcBef>
            </a:pPr>
            <a:r>
              <a:rPr sz="750" b="1" i="0">
                <a:solidFill>
                  <a:srgbClr val="595959"/>
                </a:solidFill>
                <a:latin typeface="Arial"/>
              </a:rPr>
              <a:t>key material only</a:t>
            </a:r>
          </a:p>
          <a:p>
            <a:pPr algn="l">
              <a:spcBef>
                <a:spcPts val="30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one master key per document; chunk keys are derived on use, never stored</a:t>
            </a:r>
          </a:p>
          <a:p>
            <a:pPr algn="l">
              <a:spcBef>
                <a:spcPts val="300"/>
              </a:spcBef>
            </a:pPr>
            <a:r>
              <a:rPr sz="750" b="1" i="0">
                <a:solidFill>
                  <a:srgbClr val="A61C1C"/>
                </a:solidFill>
                <a:latin typeface="Arial"/>
              </a:rPr>
              <a:t>✗  no ciphertext to unlock</a:t>
            </a:r>
          </a:p>
        </p:txBody>
      </p:sp>
      <p:sp>
        <p:nvSpPr>
          <p:cNvPr id="17489" name="Down Arrow 17488"/>
          <p:cNvSpPr/>
          <p:nvPr/>
        </p:nvSpPr>
        <p:spPr>
          <a:xfrm>
            <a:off x="2240279" y="4590288"/>
            <a:ext cx="182880" cy="118872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0" name="Down Arrow 17489"/>
          <p:cNvSpPr/>
          <p:nvPr/>
        </p:nvSpPr>
        <p:spPr>
          <a:xfrm>
            <a:off x="5998464" y="4590288"/>
            <a:ext cx="182880" cy="118872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1" name="Down Arrow 17490"/>
          <p:cNvSpPr/>
          <p:nvPr/>
        </p:nvSpPr>
        <p:spPr>
          <a:xfrm>
            <a:off x="9756648" y="4590288"/>
            <a:ext cx="182880" cy="118872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2" name="Rectangle 17491"/>
          <p:cNvSpPr/>
          <p:nvPr/>
        </p:nvSpPr>
        <p:spPr>
          <a:xfrm>
            <a:off x="2331720" y="4709160"/>
            <a:ext cx="7516368" cy="411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3" name="Down Arrow 17492"/>
          <p:cNvSpPr/>
          <p:nvPr/>
        </p:nvSpPr>
        <p:spPr>
          <a:xfrm>
            <a:off x="5998464" y="4750308"/>
            <a:ext cx="182880" cy="137160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4" name="Decision 17493"/>
          <p:cNvSpPr/>
          <p:nvPr/>
        </p:nvSpPr>
        <p:spPr>
          <a:xfrm>
            <a:off x="5084064" y="4937760"/>
            <a:ext cx="2011680" cy="713232"/>
          </a:xfrm>
          <a:prstGeom prst="flowChartDecisi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ALL CHECKS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PASS ?</a:t>
            </a:r>
          </a:p>
        </p:txBody>
      </p:sp>
      <p:sp>
        <p:nvSpPr>
          <p:cNvPr id="17495" name="Left Arrow 17494"/>
          <p:cNvSpPr/>
          <p:nvPr/>
        </p:nvSpPr>
        <p:spPr>
          <a:xfrm>
            <a:off x="4608576" y="5193792"/>
            <a:ext cx="402336" cy="201168"/>
          </a:xfrm>
          <a:prstGeom prst="leftArrow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6" name="Rounded Rectangle 17495"/>
          <p:cNvSpPr/>
          <p:nvPr/>
        </p:nvSpPr>
        <p:spPr>
          <a:xfrm>
            <a:off x="365760" y="5010912"/>
            <a:ext cx="4151376" cy="566928"/>
          </a:xfrm>
          <a:prstGeom prst="roundRect">
            <a:avLst>
              <a:gd name="adj" fmla="val 14000"/>
            </a:avLst>
          </a:prstGeom>
          <a:solidFill>
            <a:srgbClr val="E2F0D9"/>
          </a:solidFill>
          <a:ln w="19050">
            <a:solidFill>
              <a:srgbClr val="1E7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1E7B45"/>
                </a:solidFill>
                <a:latin typeface="Arial"/>
              </a:rPr>
              <a:t>RELEASE</a:t>
            </a:r>
          </a:p>
          <a:p>
            <a:pPr algn="ctr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decrypt · stream in chunk order · access recorded</a:t>
            </a:r>
          </a:p>
        </p:txBody>
      </p:sp>
      <p:sp>
        <p:nvSpPr>
          <p:cNvPr id="17497" name="Right Arrow 17496"/>
          <p:cNvSpPr/>
          <p:nvPr/>
        </p:nvSpPr>
        <p:spPr>
          <a:xfrm>
            <a:off x="7168896" y="5193792"/>
            <a:ext cx="402336" cy="201168"/>
          </a:xfrm>
          <a:prstGeom prst="rightArrow">
            <a:avLst/>
          </a:prstGeom>
          <a:solidFill>
            <a:srgbClr val="A6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8" name="Rounded Rectangle 17497"/>
          <p:cNvSpPr/>
          <p:nvPr/>
        </p:nvSpPr>
        <p:spPr>
          <a:xfrm>
            <a:off x="7662672" y="5010912"/>
            <a:ext cx="4270248" cy="566928"/>
          </a:xfrm>
          <a:prstGeom prst="roundRect">
            <a:avLst>
              <a:gd name="adj" fmla="val 14000"/>
            </a:avLst>
          </a:prstGeom>
          <a:solidFill>
            <a:srgbClr val="FBE4E4"/>
          </a:solidFill>
          <a:ln w="19050">
            <a:solidFill>
              <a:srgbClr val="A6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A61C1C"/>
                </a:solidFill>
                <a:latin typeface="Arial"/>
              </a:rPr>
              <a:t>BLOCK</a:t>
            </a:r>
          </a:p>
          <a:p>
            <a:pPr algn="ctr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HTTP 422 · 0 bytes served · integrity violation recorded  —  the demo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256032" y="5669280"/>
            <a:ext cx="11676888" cy="21945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1F3864"/>
                </a:solidFill>
                <a:latin typeface="Arial"/>
              </a:rPr>
              <a:t>Nothing is streamed before every chunk hash, every authentication tag and the document hash have passed.</a:t>
            </a:r>
          </a:p>
        </p:txBody>
      </p:sp>
      <p:sp>
        <p:nvSpPr>
          <p:cNvPr id="17500" name="Rounded Rectangle 17499"/>
          <p:cNvSpPr/>
          <p:nvPr/>
        </p:nvSpPr>
        <p:spPr>
          <a:xfrm>
            <a:off x="256032" y="5925312"/>
            <a:ext cx="11676888" cy="365760"/>
          </a:xfrm>
          <a:prstGeom prst="roundRect">
            <a:avLst>
              <a:gd name="adj" fmla="val 24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00" b="1" i="0">
                <a:solidFill>
                  <a:srgbClr val="1F3864"/>
                </a:solidFill>
                <a:latin typeface="Arial"/>
              </a:rPr>
              <a:t>React SPA · Flask REST API · PostgreSQL · encrypted chunk store · key management service · Tesseract OCR   |   AES-256-GCM · HKDF-SHA256 · SHA-256 · Ed25519 · bcrypt · TOTP · JWT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3200" b="1">
                <a:solidFill>
                  <a:srgbClr val="1F3864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864"/>
                </a:solidFill>
                <a:latin typeface="Arial"/>
              </a:rPr>
              <a:t>leet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56032" y="1115568"/>
            <a:ext cx="11676888" cy="292608"/>
          </a:xfrm>
          <a:prstGeom prst="roundRect">
            <a:avLst>
              <a:gd name="adj" fmla="val 28000"/>
            </a:avLst>
          </a:prstGeom>
          <a:solidFill>
            <a:srgbClr val="DEEAF6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Analysis of the feasibility of the idea   |   Potential challenges and risks   |   Strategies for overcoming these challenges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56032" y="1572768"/>
            <a:ext cx="11676888" cy="274320"/>
          </a:xfrm>
          <a:prstGeom prst="roundRect">
            <a:avLst>
              <a:gd name="adj" fmla="val 2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FEASIBILITY  —  a 9-day build on commodity hardware, with no external system dependency</a:t>
            </a:r>
          </a:p>
        </p:txBody>
      </p:sp>
      <p:sp>
        <p:nvSpPr>
          <p:cNvPr id="17412" name="Chevron 17411"/>
          <p:cNvSpPr/>
          <p:nvPr/>
        </p:nvSpPr>
        <p:spPr>
          <a:xfrm>
            <a:off x="256032" y="1975104"/>
            <a:ext cx="1885187" cy="566928"/>
          </a:xfrm>
          <a:prstGeom prst="chevron">
            <a:avLst/>
          </a:prstGeom>
          <a:solidFill>
            <a:srgbClr val="DEEAF6"/>
          </a:solidFill>
          <a:ln w="1587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DAYS 1–2</a:t>
            </a:r>
          </a:p>
          <a:p>
            <a:pPr algn="ctr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Auth · MFA · RBAC</a:t>
            </a:r>
          </a:p>
        </p:txBody>
      </p:sp>
      <p:sp>
        <p:nvSpPr>
          <p:cNvPr id="17413" name="Chevron 17412"/>
          <p:cNvSpPr/>
          <p:nvPr/>
        </p:nvSpPr>
        <p:spPr>
          <a:xfrm>
            <a:off x="2214372" y="1975104"/>
            <a:ext cx="1885187" cy="566928"/>
          </a:xfrm>
          <a:prstGeom prst="chevron">
            <a:avLst/>
          </a:prstGeom>
          <a:solidFill>
            <a:srgbClr val="FBE5D6"/>
          </a:solidFill>
          <a:ln w="158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850" b="1" i="0">
                <a:solidFill>
                  <a:srgbClr val="C55A11"/>
                </a:solidFill>
                <a:latin typeface="Arial"/>
              </a:rPr>
              <a:t>DAYS 3–4</a:t>
            </a:r>
          </a:p>
          <a:p>
            <a:pPr algn="ctr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Chunked crypto ★</a:t>
            </a:r>
          </a:p>
        </p:txBody>
      </p:sp>
      <p:sp>
        <p:nvSpPr>
          <p:cNvPr id="17414" name="Chevron 17413"/>
          <p:cNvSpPr/>
          <p:nvPr/>
        </p:nvSpPr>
        <p:spPr>
          <a:xfrm>
            <a:off x="4172712" y="1975104"/>
            <a:ext cx="1885187" cy="566928"/>
          </a:xfrm>
          <a:prstGeom prst="chevron">
            <a:avLst/>
          </a:prstGeom>
          <a:solidFill>
            <a:srgbClr val="DEEAF6"/>
          </a:solidFill>
          <a:ln w="1587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DAY 5</a:t>
            </a:r>
          </a:p>
          <a:p>
            <a:pPr algn="ctr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Audit chain</a:t>
            </a:r>
          </a:p>
        </p:txBody>
      </p:sp>
      <p:sp>
        <p:nvSpPr>
          <p:cNvPr id="17415" name="Chevron 17414"/>
          <p:cNvSpPr/>
          <p:nvPr/>
        </p:nvSpPr>
        <p:spPr>
          <a:xfrm>
            <a:off x="6131052" y="1975104"/>
            <a:ext cx="1885187" cy="566928"/>
          </a:xfrm>
          <a:prstGeom prst="chevron">
            <a:avLst/>
          </a:prstGeom>
          <a:solidFill>
            <a:srgbClr val="DEEAF6"/>
          </a:solidFill>
          <a:ln w="1587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DAY 6</a:t>
            </a:r>
          </a:p>
          <a:p>
            <a:pPr algn="ctr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Search · OCR</a:t>
            </a:r>
          </a:p>
        </p:txBody>
      </p:sp>
      <p:sp>
        <p:nvSpPr>
          <p:cNvPr id="17416" name="Chevron 17415"/>
          <p:cNvSpPr/>
          <p:nvPr/>
        </p:nvSpPr>
        <p:spPr>
          <a:xfrm>
            <a:off x="8089392" y="1975104"/>
            <a:ext cx="1885187" cy="566928"/>
          </a:xfrm>
          <a:prstGeom prst="chevron">
            <a:avLst/>
          </a:prstGeom>
          <a:solidFill>
            <a:srgbClr val="DEEAF6"/>
          </a:solidFill>
          <a:ln w="1587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DAYS 7–8</a:t>
            </a:r>
          </a:p>
          <a:p>
            <a:pPr algn="ctr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Signatures · sharing</a:t>
            </a:r>
          </a:p>
        </p:txBody>
      </p:sp>
      <p:sp>
        <p:nvSpPr>
          <p:cNvPr id="17417" name="Chevron 17416"/>
          <p:cNvSpPr/>
          <p:nvPr/>
        </p:nvSpPr>
        <p:spPr>
          <a:xfrm>
            <a:off x="10047732" y="1975104"/>
            <a:ext cx="1885187" cy="566928"/>
          </a:xfrm>
          <a:prstGeom prst="chevron">
            <a:avLst/>
          </a:prstGeom>
          <a:solidFill>
            <a:srgbClr val="DEEAF6"/>
          </a:solidFill>
          <a:ln w="1587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850" b="1" i="0">
                <a:solidFill>
                  <a:srgbClr val="1F497D"/>
                </a:solidFill>
                <a:latin typeface="Arial"/>
              </a:rPr>
              <a:t>DAY 9</a:t>
            </a:r>
          </a:p>
          <a:p>
            <a:pPr algn="ctr">
              <a:spcBef>
                <a:spcPts val="2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Tamper demo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56032" y="2706624"/>
            <a:ext cx="2836926" cy="384048"/>
          </a:xfrm>
          <a:prstGeom prst="roundRect">
            <a:avLst>
              <a:gd name="adj" fmla="val 24000"/>
            </a:avLst>
          </a:prstGeom>
          <a:solidFill>
            <a:srgbClr val="E2F0D9"/>
          </a:solidFill>
          <a:ln w="12700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 i="0">
                <a:solidFill>
                  <a:srgbClr val="1E7B45"/>
                </a:solidFill>
                <a:latin typeface="Arial"/>
              </a:rPr>
              <a:t>✓  Open-source stack — no per-seat licence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02686" y="2706624"/>
            <a:ext cx="2836926" cy="384048"/>
          </a:xfrm>
          <a:prstGeom prst="roundRect">
            <a:avLst>
              <a:gd name="adj" fmla="val 24000"/>
            </a:avLst>
          </a:prstGeom>
          <a:solidFill>
            <a:srgbClr val="E2F0D9"/>
          </a:solidFill>
          <a:ln w="12700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 i="0">
                <a:solidFill>
                  <a:srgbClr val="1E7B45"/>
                </a:solidFill>
                <a:latin typeface="Arial"/>
              </a:rPr>
              <a:t>✓  On-premise — no mandatory cloud hosting fee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49340" y="2706624"/>
            <a:ext cx="2836926" cy="384048"/>
          </a:xfrm>
          <a:prstGeom prst="roundRect">
            <a:avLst>
              <a:gd name="adj" fmla="val 24000"/>
            </a:avLst>
          </a:prstGeom>
          <a:solidFill>
            <a:srgbClr val="E2F0D9"/>
          </a:solidFill>
          <a:ln w="12700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 i="0">
                <a:solidFill>
                  <a:srgbClr val="1E7B45"/>
                </a:solidFill>
                <a:latin typeface="Arial"/>
              </a:rPr>
              <a:t>✓  No GPU and no internet egress required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095994" y="2706624"/>
            <a:ext cx="2836926" cy="384048"/>
          </a:xfrm>
          <a:prstGeom prst="roundRect">
            <a:avLst>
              <a:gd name="adj" fmla="val 24000"/>
            </a:avLst>
          </a:prstGeom>
          <a:solidFill>
            <a:srgbClr val="E2F0D9"/>
          </a:solidFill>
          <a:ln w="12700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 i="0">
                <a:solidFill>
                  <a:srgbClr val="1E7B45"/>
                </a:solidFill>
                <a:latin typeface="Arial"/>
              </a:rPr>
              <a:t>✓  Standard audited crypto libraries — nothing home-made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56032" y="3401568"/>
            <a:ext cx="11676888" cy="274320"/>
          </a:xfrm>
          <a:prstGeom prst="roundRect">
            <a:avLst>
              <a:gd name="adj" fmla="val 2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THREAT MODEL  —  what the prototype defends against, and what it does not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56032" y="3803904"/>
            <a:ext cx="3770375" cy="2048256"/>
          </a:xfrm>
          <a:prstGeom prst="roundRect">
            <a:avLst>
              <a:gd name="adj" fmla="val 7000"/>
            </a:avLst>
          </a:prstGeom>
          <a:solidFill>
            <a:srgbClr val="E2F0D9"/>
          </a:solidFill>
          <a:ln w="12700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/>
            <a:r>
              <a:rPr sz="1000" b="1" i="0">
                <a:solidFill>
                  <a:srgbClr val="1E7B45"/>
                </a:solidFill>
                <a:latin typeface="Arial"/>
              </a:rPr>
              <a:t>DEFENDED IN THE PROTOTYPE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Compromise of the metadata server alone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Compromise of the encrypted chunk store alone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A database administrator reading evidence content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Stolen credentials without the second factor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Cross-case and unauthorised API access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Modification of stored ciphertext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Retroactive edits to the audit trail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209288" y="3803904"/>
            <a:ext cx="3770375" cy="2048256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/>
            <a:r>
              <a:rPr sz="1000" b="1" i="0">
                <a:solidFill>
                  <a:srgbClr val="C55A11"/>
                </a:solidFill>
                <a:latin typeface="Arial"/>
              </a:rPr>
              <a:t>PARTIALLY ADDRESSED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Compromise of the application server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Compromise of the KMS or a document master key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A stolen live authenticated session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Backup media holding metadata, ciphertext or keys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A privileged account rewriting the whole audit chain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162543" y="3803904"/>
            <a:ext cx="3770375" cy="2048256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/>
            <a:r>
              <a:rPr sz="1000" b="1" i="0">
                <a:solidFill>
                  <a:srgbClr val="595959"/>
                </a:solidFill>
                <a:latin typeface="Arial"/>
              </a:rPr>
              <a:t>OUT OF SCOPE FOR THE PROTOTYPE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Full root or operating-system compromise of a host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Physical access to the machines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A compromised cryptographic library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Formally verified implementation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Production disaster recovery and high availability</a:t>
            </a:r>
          </a:p>
          <a:p>
            <a:pPr algn="l" marL="100000" indent="-100000">
              <a:spcBef>
                <a:spcPts val="350"/>
              </a:spcBef>
            </a:pPr>
            <a:r>
              <a:rPr sz="850" b="0" i="0">
                <a:solidFill>
                  <a:srgbClr val="3B3B3B"/>
                </a:solidFill>
                <a:latin typeface="Arial"/>
              </a:rPr>
              <a:t>•  Certified PKI / e-signature deployment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256032" y="5961888"/>
            <a:ext cx="11676888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1F3864"/>
                </a:solidFill>
                <a:latin typeface="Arial"/>
              </a:rPr>
              <a:t>PRAMAAN does not claim compromise is impossible. It limits the impact of partial compromise, and refuses to release evidence it cannot verify.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3200" b="1">
                <a:solidFill>
                  <a:srgbClr val="1F3864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864"/>
                </a:solidFill>
                <a:latin typeface="Arial"/>
              </a:rPr>
              <a:t>leet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56032" y="1115568"/>
            <a:ext cx="11676888" cy="292608"/>
          </a:xfrm>
          <a:prstGeom prst="roundRect">
            <a:avLst>
              <a:gd name="adj" fmla="val 28000"/>
            </a:avLst>
          </a:prstGeom>
          <a:solidFill>
            <a:srgbClr val="DEEAF6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Potential impact on the target audience   |   Benefits of the solution (social, economic, environmental, etc.)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56032" y="1481328"/>
            <a:ext cx="5623560" cy="256032"/>
          </a:xfrm>
          <a:prstGeom prst="roundRect">
            <a:avLst>
              <a:gd name="adj" fmla="val 2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WHO IT CHANGES, AND HOW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56032" y="1792224"/>
            <a:ext cx="5623560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1" i="0">
                <a:solidFill>
                  <a:srgbClr val="1F497D"/>
                </a:solidFill>
                <a:latin typeface="Arial"/>
              </a:rPr>
              <a:t>POLICE &amp; INVESTIGATORS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One indexed, encrypted case file replaces station-level registers and shared drives.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56032" y="2391156"/>
            <a:ext cx="5623560" cy="54864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1" i="0">
                <a:solidFill>
                  <a:srgbClr val="C55A11"/>
                </a:solidFill>
                <a:latin typeface="Arial"/>
              </a:rPr>
              <a:t>COURTS &amp; PROSECUTORS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Receive an exhibit through a recipient-bound, time-limited share, with every access recorded.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56032" y="2990088"/>
            <a:ext cx="5623560" cy="548640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2700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1" i="0">
                <a:solidFill>
                  <a:srgbClr val="1E7B45"/>
                </a:solidFill>
                <a:latin typeface="Arial"/>
              </a:rPr>
              <a:t>FORENSIC LABS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Sign a report cryptographically; any later modification makes that signature fail verification.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56032" y="3589020"/>
            <a:ext cx="5623560" cy="548640"/>
          </a:xfrm>
          <a:prstGeom prst="roundRect">
            <a:avLst>
              <a:gd name="adj" fmla="val 10000"/>
            </a:avLst>
          </a:prstGeom>
          <a:solidFill>
            <a:srgbClr val="E6DDF2"/>
          </a:solidFill>
          <a:ln w="12700">
            <a:solidFill>
              <a:srgbClr val="C3B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1" i="0">
                <a:solidFill>
                  <a:srgbClr val="5B3B8C"/>
                </a:solidFill>
                <a:latin typeface="Arial"/>
              </a:rPr>
              <a:t>AUDITORS &amp; OVERSIGHT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Recompute the audit chain on demand; verification names the first event that fails.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56032" y="4187952"/>
            <a:ext cx="5623560" cy="548640"/>
          </a:xfrm>
          <a:prstGeom prst="roundRect">
            <a:avLst>
              <a:gd name="adj" fmla="val 10000"/>
            </a:avLst>
          </a:prstGeom>
          <a:solidFill>
            <a:srgbClr val="FBE4E4"/>
          </a:solidFill>
          <a:ln w="12700">
            <a:solidFill>
              <a:srgbClr val="E9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1" i="0">
                <a:solidFill>
                  <a:srgbClr val="A61C1C"/>
                </a:solidFill>
                <a:latin typeface="Arial"/>
              </a:rPr>
              <a:t>EVIDENCE CUSTODIANS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A verifiable record of who accessed which document, from where, and when.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035040" y="1481328"/>
            <a:ext cx="5897880" cy="256032"/>
          </a:xfrm>
          <a:prstGeom prst="roundRect">
            <a:avLst>
              <a:gd name="adj" fmla="val 2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BENEFITS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035040" y="1792224"/>
            <a:ext cx="2852928" cy="1335024"/>
          </a:xfrm>
          <a:prstGeom prst="roundRect">
            <a:avLst>
              <a:gd name="adj" fmla="val 7000"/>
            </a:avLst>
          </a:prstGeom>
          <a:solidFill>
            <a:srgbClr val="DEEAF6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1" i="0">
                <a:solidFill>
                  <a:srgbClr val="1F497D"/>
                </a:solidFill>
                <a:latin typeface="Arial"/>
              </a:rPr>
              <a:t>SECURITY</a:t>
            </a:r>
          </a:p>
          <a:p>
            <a:pPr algn="l" marL="100000" indent="-100000">
              <a:spcBef>
                <a:spcPts val="35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•  Partial compromise of one storage domain does not yield a readable document.</a:t>
            </a:r>
          </a:p>
          <a:p>
            <a:pPr algn="l" marL="100000" indent="-100000">
              <a:spcBef>
                <a:spcPts val="35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•  Tampering is detected before evidence is released, not after it is relied on.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079992" y="1792224"/>
            <a:ext cx="2852928" cy="1335024"/>
          </a:xfrm>
          <a:prstGeom prst="roundRect">
            <a:avLst>
              <a:gd name="adj" fmla="val 7000"/>
            </a:avLst>
          </a:prstGeom>
          <a:solidFill>
            <a:srgbClr val="E6DDF2"/>
          </a:solidFill>
          <a:ln w="12700">
            <a:solidFill>
              <a:srgbClr val="C3B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1" i="0">
                <a:solidFill>
                  <a:srgbClr val="5B3B8C"/>
                </a:solidFill>
                <a:latin typeface="Arial"/>
              </a:rPr>
              <a:t>ACCOUNTABILITY</a:t>
            </a:r>
          </a:p>
          <a:p>
            <a:pPr algn="l" marL="100000" indent="-100000">
              <a:spcBef>
                <a:spcPts val="35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•  Every upload, access, download and share leaves a hash-chained record.</a:t>
            </a:r>
          </a:p>
          <a:p>
            <a:pPr algn="l" marL="100000" indent="-100000">
              <a:spcBef>
                <a:spcPts val="35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•  Verification is on demand and names the first event that fails.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035040" y="3218688"/>
            <a:ext cx="2852928" cy="1335024"/>
          </a:xfrm>
          <a:prstGeom prst="roundRect">
            <a:avLst>
              <a:gd name="adj" fmla="val 7000"/>
            </a:avLst>
          </a:prstGeom>
          <a:solidFill>
            <a:srgbClr val="E2F0D9"/>
          </a:solidFill>
          <a:ln w="12700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1" i="0">
                <a:solidFill>
                  <a:srgbClr val="1E7B45"/>
                </a:solidFill>
                <a:latin typeface="Arial"/>
              </a:rPr>
              <a:t>OPERATIONAL &amp; ECONOMIC</a:t>
            </a:r>
          </a:p>
          <a:p>
            <a:pPr algn="l" marL="100000" indent="-100000">
              <a:spcBef>
                <a:spcPts val="35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•  Open-source stack, no per-seat licence; runs on hardware departments already own.</a:t>
            </a:r>
          </a:p>
          <a:p>
            <a:pPr algn="l" marL="100000" indent="-100000">
              <a:spcBef>
                <a:spcPts val="35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•  On-premise deployment avoids mandatory cloud hosting fees.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079992" y="3218688"/>
            <a:ext cx="2852928" cy="1335024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1" i="0">
                <a:solidFill>
                  <a:srgbClr val="C55A11"/>
                </a:solidFill>
                <a:latin typeface="Arial"/>
              </a:rPr>
              <a:t>SOCIAL</a:t>
            </a:r>
          </a:p>
          <a:p>
            <a:pPr algn="l" marL="100000" indent="-100000">
              <a:spcBef>
                <a:spcPts val="35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•  Chain of custody becomes verifiable rather than asserted.</a:t>
            </a:r>
          </a:p>
          <a:p>
            <a:pPr algn="l" marL="100000" indent="-100000">
              <a:spcBef>
                <a:spcPts val="350"/>
              </a:spcBef>
            </a:pPr>
            <a:r>
              <a:rPr sz="800" b="0" i="0">
                <a:solidFill>
                  <a:srgbClr val="3B3B3B"/>
                </a:solidFill>
                <a:latin typeface="Arial"/>
              </a:rPr>
              <a:t>•  Case material stays inside the case boundary it belongs to.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56032" y="4882896"/>
            <a:ext cx="11676888" cy="256032"/>
          </a:xfrm>
          <a:prstGeom prst="roundRect">
            <a:avLst>
              <a:gd name="adj" fmla="val 2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WHAT WE WILL MEASURE  —  stated as targets; figures reported from the prototype, not claimed now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56032" y="5193792"/>
            <a:ext cx="3794759" cy="1042415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00" b="1" i="0">
                <a:solidFill>
                  <a:srgbClr val="1F3864"/>
                </a:solidFill>
                <a:latin typeface="Arial"/>
              </a:rPr>
              <a:t>Blast radius of a single compromised host</a:t>
            </a:r>
          </a:p>
          <a:p>
            <a:pPr algn="l" marL="100000" indent="-100000">
              <a:spcBef>
                <a:spcPts val="500"/>
              </a:spcBef>
            </a:pPr>
            <a:r>
              <a:rPr sz="800" b="1" i="0">
                <a:solidFill>
                  <a:srgbClr val="1E7B45"/>
                </a:solidFill>
                <a:latin typeface="Arial"/>
              </a:rPr>
              <a:t>TARGET   Neither storage server on its own yields a readable document.</a:t>
            </a:r>
          </a:p>
          <a:p>
            <a:pPr algn="l" marL="100000" indent="-100000">
              <a:spcBef>
                <a:spcPts val="400"/>
              </a:spcBef>
            </a:pPr>
            <a:r>
              <a:rPr sz="800" b="0" i="0">
                <a:solidFill>
                  <a:srgbClr val="595959"/>
                </a:solidFill>
                <a:latin typeface="Arial"/>
              </a:rPr>
              <a:t>METHOD   Shown by inspection during the demo — the chunk store holds ciphertext only.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197096" y="5193792"/>
            <a:ext cx="3794759" cy="1042415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00" b="1" i="0">
                <a:solidFill>
                  <a:srgbClr val="1F3864"/>
                </a:solidFill>
                <a:latin typeface="Arial"/>
              </a:rPr>
              <a:t>Response to an integrity failure</a:t>
            </a:r>
          </a:p>
          <a:p>
            <a:pPr algn="l" marL="100000" indent="-100000">
              <a:spcBef>
                <a:spcPts val="500"/>
              </a:spcBef>
            </a:pPr>
            <a:r>
              <a:rPr sz="800" b="1" i="0">
                <a:solidFill>
                  <a:srgbClr val="1E7B45"/>
                </a:solidFill>
                <a:latin typeface="Arial"/>
              </a:rPr>
              <a:t>TARGET   0 bytes served, HTTP 422, and an audit event recorded.</a:t>
            </a:r>
          </a:p>
          <a:p>
            <a:pPr algn="l" marL="100000" indent="-100000">
              <a:spcBef>
                <a:spcPts val="400"/>
              </a:spcBef>
            </a:pPr>
            <a:r>
              <a:rPr sz="800" b="0" i="0">
                <a:solidFill>
                  <a:srgbClr val="595959"/>
                </a:solidFill>
                <a:latin typeface="Arial"/>
              </a:rPr>
              <a:t>METHOD   Measured directly on the tampered-chunk demo.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138159" y="5193792"/>
            <a:ext cx="3794759" cy="1042415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00" b="1" i="0">
                <a:solidFill>
                  <a:srgbClr val="1F3864"/>
                </a:solidFill>
                <a:latin typeface="Arial"/>
              </a:rPr>
              <a:t>Retrieval and verification time</a:t>
            </a:r>
          </a:p>
          <a:p>
            <a:pPr algn="l" marL="100000" indent="-100000">
              <a:spcBef>
                <a:spcPts val="500"/>
              </a:spcBef>
            </a:pPr>
            <a:r>
              <a:rPr sz="800" b="1" i="0">
                <a:solidFill>
                  <a:srgbClr val="1E7B45"/>
                </a:solidFill>
                <a:latin typeface="Arial"/>
              </a:rPr>
              <a:t>TARGET   To be benchmarked at 10 MB, 100 MB and 500 MB.</a:t>
            </a:r>
          </a:p>
          <a:p>
            <a:pPr algn="l" marL="100000" indent="-100000">
              <a:spcBef>
                <a:spcPts val="400"/>
              </a:spcBef>
            </a:pPr>
            <a:r>
              <a:rPr sz="800" b="0" i="0">
                <a:solidFill>
                  <a:srgbClr val="595959"/>
                </a:solidFill>
                <a:latin typeface="Arial"/>
              </a:rPr>
              <a:t>METHOD   Upload, encryption, verification and total retrieval time recorded separately.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3200" b="1">
                <a:solidFill>
                  <a:srgbClr val="1F3864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864"/>
                </a:solidFill>
                <a:latin typeface="Arial"/>
              </a:rPr>
              <a:t>leet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56032" y="1115568"/>
            <a:ext cx="11676888" cy="292608"/>
          </a:xfrm>
          <a:prstGeom prst="roundRect">
            <a:avLst>
              <a:gd name="adj" fmla="val 28000"/>
            </a:avLst>
          </a:prstGeom>
          <a:solidFill>
            <a:srgbClr val="DEEAF6"/>
          </a:solidFill>
          <a:ln w="9525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56032" y="1481328"/>
            <a:ext cx="3770375" cy="274320"/>
          </a:xfrm>
          <a:prstGeom prst="roundRect">
            <a:avLst>
              <a:gd name="adj" fmla="val 2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CRYPTOGRAPHIC STANDARDS WE IMPLEMENT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56032" y="1792224"/>
            <a:ext cx="3770375" cy="2615184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850" b="1" i="0">
                <a:solidFill>
                  <a:srgbClr val="1F497D"/>
                </a:solidFill>
                <a:latin typeface="Arial"/>
              </a:rPr>
              <a:t>NIST SP 800-38D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AES-GCM mode, IV construction and tag length — our per-chunk cipher.  nvlpubs.nist.gov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1F497D"/>
                </a:solidFill>
                <a:latin typeface="Arial"/>
              </a:rPr>
              <a:t>RFC 5869 — HKDF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Extract-and-expand key derivation; the basis of our per-chunk keys.  rfc-editor.org/rfc/rfc5869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1F497D"/>
                </a:solidFill>
                <a:latin typeface="Arial"/>
              </a:rPr>
              <a:t>RFC 8032 — Ed25519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Deterministic EdDSA signatures; no per-signature nonce to reuse.  rfc-editor.org/rfc/rfc8032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1F497D"/>
                </a:solidFill>
                <a:latin typeface="Arial"/>
              </a:rPr>
              <a:t>RFC 6238 — TOTP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Time-based one-time passwords for the second factor.  rfc-editor.org/rfc/rfc6238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1F497D"/>
                </a:solidFill>
                <a:latin typeface="Arial"/>
              </a:rPr>
              <a:t>NIST SP 800-57 Part 1 Rev.5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Key-management lifecycle — generation, storage, rotation, destruction.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09288" y="1481328"/>
            <a:ext cx="3770375" cy="274320"/>
          </a:xfrm>
          <a:prstGeom prst="roundRect">
            <a:avLst>
              <a:gd name="adj" fmla="val 2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SECURITY ENGINEERING REFERENCES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09288" y="1792224"/>
            <a:ext cx="3770375" cy="2615184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850" b="1" i="0">
                <a:solidFill>
                  <a:srgbClr val="C55A11"/>
                </a:solidFill>
                <a:latin typeface="Arial"/>
              </a:rPr>
              <a:t>OWASP ASVS 4.0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The verification checklist our access-control and crypto-storage requirements map to.  owasp.org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C55A11"/>
                </a:solidFill>
                <a:latin typeface="Arial"/>
              </a:rPr>
              <a:t>OWASP Top 10 (2021)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Broken access control and cryptographic failures drove the 404-not-403 scoping rule.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C55A11"/>
                </a:solidFill>
                <a:latin typeface="Arial"/>
              </a:rPr>
              <a:t>NIST SP 800-92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Log management guidance behind the audit event schema and retention design.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C55A11"/>
                </a:solidFill>
                <a:latin typeface="Arial"/>
              </a:rPr>
              <a:t>Saltzer &amp; Schroeder (1975)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Least privilege and complete mediation — why authorisation is re-checked per request.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C55A11"/>
                </a:solidFill>
                <a:latin typeface="Arial"/>
              </a:rPr>
              <a:t>Threat-model sources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Each threat on slide 4 traces to one of the above rather than to intuition.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62543" y="1481328"/>
            <a:ext cx="3770375" cy="274320"/>
          </a:xfrm>
          <a:prstGeom prst="roundRect">
            <a:avLst>
              <a:gd name="adj" fmla="val 22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TECHNOLOGY &amp; PRIOR ART STUDIED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62543" y="1792224"/>
            <a:ext cx="3770375" cy="2615184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2700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sz="850" b="1" i="0">
                <a:solidFill>
                  <a:srgbClr val="1E7B45"/>
                </a:solidFill>
                <a:latin typeface="Arial"/>
              </a:rPr>
              <a:t>pyca/cryptography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AESGCM, HKDF and Ed25519 primitives — audited implementations, no custom crypto.  cryptography.io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1E7B45"/>
                </a:solidFill>
                <a:latin typeface="Arial"/>
              </a:rPr>
              <a:t>PostgreSQL 16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Full-text search, GIN indexes and transaction-scoped advisory locks.  postgresql.org/docs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1E7B45"/>
                </a:solidFill>
                <a:latin typeface="Arial"/>
              </a:rPr>
              <a:t>Tesseract OCR + Indic tessdata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Fully offline OCR with Devanagari, Tamil, Telugu, Bengali and Gujarati packs.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1E7B45"/>
                </a:solidFill>
                <a:latin typeface="Arial"/>
              </a:rPr>
              <a:t>MinIO  ·  HashiCorp Vault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Studied as production swap-ins behind our chunk-store and KMS interfaces.</a:t>
            </a:r>
          </a:p>
          <a:p>
            <a:pPr algn="l">
              <a:spcBef>
                <a:spcPts val="700"/>
              </a:spcBef>
            </a:pPr>
            <a:r>
              <a:rPr sz="850" b="1" i="0">
                <a:solidFill>
                  <a:srgbClr val="1E7B45"/>
                </a:solidFill>
                <a:latin typeface="Arial"/>
              </a:rPr>
              <a:t>Ollama  ·  sentence-transformers</a:t>
            </a:r>
          </a:p>
          <a:p>
            <a:pPr algn="l">
              <a:spcBef>
                <a:spcPts val="100"/>
              </a:spcBef>
            </a:pPr>
            <a:r>
              <a:rPr sz="750" b="0" i="0">
                <a:solidFill>
                  <a:srgbClr val="3B3B3B"/>
                </a:solidFill>
                <a:latin typeface="Arial"/>
              </a:rPr>
              <a:t>Studied for the future on-premise AI layer — not part of the core system.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56032" y="4535424"/>
            <a:ext cx="11676888" cy="256032"/>
          </a:xfrm>
          <a:prstGeom prst="roundRect">
            <a:avLst>
              <a:gd name="adj" fmla="val 2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HOW THE RESEARCH SHAPED THE BUILD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56032" y="4846320"/>
            <a:ext cx="3782568" cy="141732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850" b="1" i="0">
                <a:solidFill>
                  <a:srgbClr val="1F3864"/>
                </a:solidFill>
                <a:latin typeface="Arial"/>
              </a:rPr>
              <a:t>OUR OWN DESIGN RECORD</a:t>
            </a:r>
          </a:p>
          <a:p>
            <a:pPr algn="l" marL="100000" indent="-100000">
              <a:spcBef>
                <a:spcPts val="35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•  Eleven feature plans plus architecture, security, API and cross-cutting edge-case documents.</a:t>
            </a:r>
          </a:p>
          <a:p>
            <a:pPr algn="l" marL="100000" indent="-100000">
              <a:spcBef>
                <a:spcPts val="35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•  Every cryptographic and access-control decision was written down and threat-modelled before implementation.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203192" y="4846320"/>
            <a:ext cx="3782568" cy="1417320"/>
          </a:xfrm>
          <a:prstGeom prst="roundRect">
            <a:avLst>
              <a:gd name="adj" fmla="val 7000"/>
            </a:avLst>
          </a:prstGeom>
          <a:solidFill>
            <a:srgbClr val="E2F0D9"/>
          </a:solidFill>
          <a:ln w="12700">
            <a:solidFill>
              <a:srgbClr val="A9D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850" b="1" i="0">
                <a:solidFill>
                  <a:srgbClr val="1E7B45"/>
                </a:solidFill>
                <a:latin typeface="Arial"/>
              </a:rPr>
              <a:t>WHAT THE READING CHANGED</a:t>
            </a:r>
          </a:p>
          <a:p>
            <a:pPr algn="l" marL="100000" indent="-100000">
              <a:spcBef>
                <a:spcPts val="35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•  SP 800-38D  →  per-chunk HKDF keys instead of one key per file, so an IV cannot repeat under a key.</a:t>
            </a:r>
          </a:p>
          <a:p>
            <a:pPr algn="l" marL="100000" indent="-100000">
              <a:spcBef>
                <a:spcPts val="35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•  OWASP ASVS  →  404 instead of 403 on case-scoped resources, so existence is never confirmed.</a:t>
            </a:r>
          </a:p>
          <a:p>
            <a:pPr algn="l" marL="100000" indent="-100000">
              <a:spcBef>
                <a:spcPts val="35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•  NIST SP 800-92  →  audit events carry actor, action, case, document and result, not just a message.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150352" y="4846320"/>
            <a:ext cx="3782568" cy="141732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850" b="1" i="0">
                <a:solidFill>
                  <a:srgbClr val="C55A11"/>
                </a:solidFill>
                <a:latin typeface="Arial"/>
              </a:rPr>
              <a:t>FUTURE SCOPE  —  AI OUTSIDE THE EVIDENCE BOUNDARY</a:t>
            </a:r>
          </a:p>
          <a:p>
            <a:pPr algn="l" marL="100000" indent="-100000">
              <a:spcBef>
                <a:spcPts val="35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•  Context Retrieval — semantic search over a read-only derived index, filtered to cases the officer can already access.</a:t>
            </a:r>
          </a:p>
          <a:p>
            <a:pPr algn="l" marL="100000" indent="-100000">
              <a:spcBef>
                <a:spcPts val="35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•  Document Summarisation — a local model drafts summaries on-premise; no evidence leaves the network.</a:t>
            </a:r>
          </a:p>
          <a:p>
            <a:pPr algn="l" marL="100000" indent="-100000">
              <a:spcBef>
                <a:spcPts val="35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•  Secure Session Playground — the ephemeral sandbox summarisation runs in, wiped on close, nothing retained unless saved.</a:t>
            </a:r>
          </a:p>
          <a:p>
            <a:pPr algn="l" marL="100000" indent="-100000">
              <a:spcBef>
                <a:spcPts val="350"/>
              </a:spcBef>
            </a:pPr>
            <a:r>
              <a:rPr sz="700" b="0" i="0">
                <a:solidFill>
                  <a:srgbClr val="3B3B3B"/>
                </a:solidFill>
                <a:latin typeface="Arial"/>
              </a:rPr>
              <a:t>•  The AI layer reads a derived copy and can never modify original evidence.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